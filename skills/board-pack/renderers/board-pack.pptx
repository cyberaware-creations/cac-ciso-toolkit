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2191695" cy="6858000"/>
  <p:notesSz cx="6858000" cy="12191695"/>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theme" Target="theme/theme1.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marL="0" algn="l" rtl="0">
        <a:defRPr sz="2600">
          <a:solidFill>
            <a:srgbClr val="14171C"/>
          </a:solidFill>
          <a:latin typeface="+mn-lt"/>
        </a:defRPr>
      </a:lvl1pPr>
      <a:lvl2pPr marL="342900" algn="l" rtl="0">
        <a:defRPr sz="2600">
          <a:solidFill>
            <a:srgbClr val="14171C"/>
          </a:solidFill>
          <a:latin typeface="+mn-lt"/>
        </a:defRPr>
      </a:lvl2pPr>
      <a:lvl3pPr marL="685800" algn="l" rtl="0">
        <a:defRPr sz="2600">
          <a:solidFill>
            <a:srgbClr val="14171C"/>
          </a:solidFill>
          <a:latin typeface="+mn-lt"/>
        </a:defRPr>
      </a:lvl3pPr>
      <a:lvl4pPr marL="1028700" algn="l" rtl="0">
        <a:defRPr sz="2600">
          <a:solidFill>
            <a:srgbClr val="14171C"/>
          </a:solidFill>
          <a:latin typeface="+mn-lt"/>
        </a:defRPr>
      </a:lvl4pPr>
      <a:lvl5pPr marL="1371600" algn="l" rtl="0">
        <a:defRPr sz="2600">
          <a:solidFill>
            <a:srgbClr val="14171C"/>
          </a:solidFill>
          <a:latin typeface="+mn-lt"/>
        </a:defRPr>
      </a:lvl5pPr>
      <a:lvl6pPr marL="1714500" algn="l" rtl="0">
        <a:defRPr sz="2600">
          <a:solidFill>
            <a:srgbClr val="14171C"/>
          </a:solidFill>
          <a:latin typeface="+mn-lt"/>
        </a:defRPr>
      </a:lvl6pPr>
      <a:lvl7pPr marL="2057400" algn="l" rtl="0">
        <a:defRPr sz="2600">
          <a:solidFill>
            <a:srgbClr val="14171C"/>
          </a:solidFill>
          <a:latin typeface="+mn-lt"/>
        </a:defRPr>
      </a:lvl7pPr>
      <a:lvl8pPr marL="2400300" algn="l" rtl="0">
        <a:defRPr sz="2600">
          <a:solidFill>
            <a:srgbClr val="14171C"/>
          </a:solidFill>
          <a:latin typeface="+mn-lt"/>
        </a:defRPr>
      </a:lvl8pPr>
      <a:lvl9pPr marL="2743200" algn="l" rtl="0">
        <a:defRPr sz="2600">
          <a:solidFill>
            <a:srgbClr val="14171C"/>
          </a:solidFill>
          <a:latin typeface="+mn-lt"/>
        </a:defRPr>
      </a:lvl9pPr>
    </p:titleStyle>
    <p:bodyStyle>
      <a:lvl1pPr marL="0" algn="l" rtl="0">
        <a:defRPr sz="1400">
          <a:solidFill>
            <a:srgbClr val="14171C"/>
          </a:solidFill>
          <a:latin typeface="+mn-lt"/>
        </a:defRPr>
      </a:lvl1pPr>
      <a:lvl2pPr marL="342900" algn="l" rtl="0">
        <a:defRPr sz="1400">
          <a:solidFill>
            <a:srgbClr val="14171C"/>
          </a:solidFill>
          <a:latin typeface="+mn-lt"/>
        </a:defRPr>
      </a:lvl2pPr>
      <a:lvl3pPr marL="685800" algn="l" rtl="0">
        <a:defRPr sz="1400">
          <a:solidFill>
            <a:srgbClr val="14171C"/>
          </a:solidFill>
          <a:latin typeface="+mn-lt"/>
        </a:defRPr>
      </a:lvl3pPr>
      <a:lvl4pPr marL="1028700" algn="l" rtl="0">
        <a:defRPr sz="1400">
          <a:solidFill>
            <a:srgbClr val="14171C"/>
          </a:solidFill>
          <a:latin typeface="+mn-lt"/>
        </a:defRPr>
      </a:lvl4pPr>
      <a:lvl5pPr marL="1371600" algn="l" rtl="0">
        <a:defRPr sz="1400">
          <a:solidFill>
            <a:srgbClr val="14171C"/>
          </a:solidFill>
          <a:latin typeface="+mn-lt"/>
        </a:defRPr>
      </a:lvl5pPr>
      <a:lvl6pPr marL="1714500" algn="l" rtl="0">
        <a:defRPr sz="1400">
          <a:solidFill>
            <a:srgbClr val="14171C"/>
          </a:solidFill>
          <a:latin typeface="+mn-lt"/>
        </a:defRPr>
      </a:lvl6pPr>
      <a:lvl7pPr marL="2057400" algn="l" rtl="0">
        <a:defRPr sz="1400">
          <a:solidFill>
            <a:srgbClr val="14171C"/>
          </a:solidFill>
          <a:latin typeface="+mn-lt"/>
        </a:defRPr>
      </a:lvl7pPr>
      <a:lvl8pPr marL="2400300" algn="l" rtl="0">
        <a:defRPr sz="1400">
          <a:solidFill>
            <a:srgbClr val="14171C"/>
          </a:solidFill>
          <a:latin typeface="+mn-lt"/>
        </a:defRPr>
      </a:lvl8pPr>
      <a:lvl9pPr marL="2743200" algn="l" rtl="0">
        <a:defRPr sz="1400">
          <a:solidFill>
            <a:srgbClr val="14171C"/>
          </a:solidFill>
          <a:latin typeface="+mn-lt"/>
        </a:defRPr>
      </a:lvl9pPr>
    </p:bodyStyle>
    <p:otherStyle>
      <a:lvl1pPr marL="0" algn="l" rtl="0">
        <a:defRPr sz="1200">
          <a:solidFill>
            <a:srgbClr val="14171C"/>
          </a:solidFill>
          <a:latin typeface="+mn-lt"/>
        </a:defRPr>
      </a:lvl1pPr>
      <a:lvl2pPr marL="342900" algn="l" rtl="0">
        <a:defRPr sz="1200">
          <a:solidFill>
            <a:srgbClr val="14171C"/>
          </a:solidFill>
          <a:latin typeface="+mn-lt"/>
        </a:defRPr>
      </a:lvl2pPr>
      <a:lvl3pPr marL="685800" algn="l" rtl="0">
        <a:defRPr sz="1200">
          <a:solidFill>
            <a:srgbClr val="14171C"/>
          </a:solidFill>
          <a:latin typeface="+mn-lt"/>
        </a:defRPr>
      </a:lvl3pPr>
      <a:lvl4pPr marL="1028700" algn="l" rtl="0">
        <a:defRPr sz="1200">
          <a:solidFill>
            <a:srgbClr val="14171C"/>
          </a:solidFill>
          <a:latin typeface="+mn-lt"/>
        </a:defRPr>
      </a:lvl4pPr>
      <a:lvl5pPr marL="1371600" algn="l" rtl="0">
        <a:defRPr sz="1200">
          <a:solidFill>
            <a:srgbClr val="14171C"/>
          </a:solidFill>
          <a:latin typeface="+mn-lt"/>
        </a:defRPr>
      </a:lvl5pPr>
      <a:lvl6pPr marL="1714500" algn="l" rtl="0">
        <a:defRPr sz="1200">
          <a:solidFill>
            <a:srgbClr val="14171C"/>
          </a:solidFill>
          <a:latin typeface="+mn-lt"/>
        </a:defRPr>
      </a:lvl6pPr>
      <a:lvl7pPr marL="2057400" algn="l" rtl="0">
        <a:defRPr sz="1200">
          <a:solidFill>
            <a:srgbClr val="14171C"/>
          </a:solidFill>
          <a:latin typeface="+mn-lt"/>
        </a:defRPr>
      </a:lvl7pPr>
      <a:lvl8pPr marL="2400300" algn="l" rtl="0">
        <a:defRPr sz="1200">
          <a:solidFill>
            <a:srgbClr val="14171C"/>
          </a:solidFill>
          <a:latin typeface="+mn-lt"/>
        </a:defRPr>
      </a:lvl8pPr>
      <a:lvl9pPr marL="2743200" algn="l" rtl="0">
        <a:defRPr sz="1200">
          <a:solidFill>
            <a:srgbClr val="14171C"/>
          </a:solidFill>
          <a:latin typeface="+mn-lt"/>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ver backdrop"/>
          <p:cNvSpPr/>
          <p:nvPr/>
        </p:nvSpPr>
        <p:spPr>
          <a:xfrm>
            <a:off x="0" y="0"/>
            <a:ext cx="12191695" cy="6858000"/>
          </a:xfrm>
          <a:prstGeom prst="rect">
            <a:avLst/>
          </a:prstGeom>
          <a:solidFill>
            <a:srgbClr val="14171C"/>
          </a:solidFill>
          <a:ln>
            <a:noFill/>
          </a:ln>
        </p:spPr>
        <p:txBody>
          <a:bodyPr/>
          <a:lstStyle/>
          <a:p/>
        </p:txBody>
      </p:sp>
      <p:sp>
        <p:nvSpPr>
          <p:cNvPr id="3" name="Lockup spark"/>
          <p:cNvSpPr/>
          <p:nvPr/>
        </p:nvSpPr>
        <p:spPr>
          <a:xfrm>
            <a:off x="685800" y="566928"/>
            <a:ext cx="155448" cy="155448"/>
          </a:xfrm>
          <a:prstGeom prst="diamond">
            <a:avLst/>
          </a:prstGeom>
          <a:solidFill>
            <a:srgbClr val="2FA98C"/>
          </a:solidFill>
          <a:ln>
            <a:noFill/>
          </a:ln>
        </p:spPr>
        <p:txBody>
          <a:bodyPr/>
          <a:lstStyle/>
          <a:p/>
        </p:txBody>
      </p:sp>
      <p:sp>
        <p:nvSpPr>
          <p:cNvPr id="4" name="Lockup"/>
          <p:cNvSpPr txBox="1"/>
          <p:nvPr/>
        </p:nvSpPr>
        <p:spPr>
          <a:xfrm>
            <a:off x="978408" y="530352"/>
            <a:ext cx="5486400" cy="292608"/>
          </a:xfrm>
          <a:prstGeom prst="rect">
            <a:avLst/>
          </a:prstGeom>
          <a:noFill/>
        </p:spPr>
        <p:txBody>
          <a:bodyPr wrap="square" lIns="0" tIns="0" rIns="0" bIns="0">
            <a:normAutofit/>
          </a:bodyPr>
          <a:lstStyle/>
          <a:p>
            <a:pPr marL="0" indent="0">
              <a:spcAft>
                <a:spcPts val="0"/>
              </a:spcAft>
              <a:buNone/>
            </a:pPr>
            <a:r>
              <a:rPr lang="en-GB" sz="1200" b="1" dirty="0">
                <a:solidFill>
                  <a:srgbClr val="EAE7DF"/>
                </a:solidFill>
                <a:latin typeface="Helvetica Neue"/>
              </a:rPr>
              <a:t>Cyber Aware Creations</a:t>
            </a:r>
          </a:p>
        </p:txBody>
      </p:sp>
      <p:sp>
        <p:nvSpPr>
          <p:cNvPr id="5" name="Eyebrow"/>
          <p:cNvSpPr txBox="1"/>
          <p:nvPr/>
        </p:nvSpPr>
        <p:spPr>
          <a:xfrm>
            <a:off x="685800" y="2331720"/>
            <a:ext cx="10820095" cy="292608"/>
          </a:xfrm>
          <a:prstGeom prst="rect">
            <a:avLst/>
          </a:prstGeom>
          <a:noFill/>
        </p:spPr>
        <p:txBody>
          <a:bodyPr wrap="square" lIns="0" tIns="0" rIns="0" bIns="0">
            <a:normAutofit/>
          </a:bodyPr>
          <a:lstStyle/>
          <a:p>
            <a:pPr marL="0" indent="0">
              <a:spcAft>
                <a:spcPts val="0"/>
              </a:spcAft>
              <a:buNone/>
            </a:pPr>
            <a:r>
              <a:rPr lang="en-GB" sz="1200" b="0" dirty="0">
                <a:solidFill>
                  <a:srgbClr val="9AA0A6"/>
                </a:solidFill>
                <a:latin typeface="Helvetica Neue"/>
              </a:rPr>
              <a:t>Quarterly security board pack</a:t>
            </a:r>
          </a:p>
        </p:txBody>
      </p:sp>
      <p:sp>
        <p:nvSpPr>
          <p:cNvPr id="6" name="Cover title"/>
          <p:cNvSpPr txBox="1"/>
          <p:nvPr/>
        </p:nvSpPr>
        <p:spPr>
          <a:xfrm>
            <a:off x="685800" y="2697480"/>
            <a:ext cx="10820095" cy="1371600"/>
          </a:xfrm>
          <a:prstGeom prst="rect">
            <a:avLst/>
          </a:prstGeom>
          <a:noFill/>
        </p:spPr>
        <p:txBody>
          <a:bodyPr wrap="square" lIns="0" tIns="0" rIns="0" bIns="0">
            <a:normAutofit/>
          </a:bodyPr>
          <a:lstStyle/>
          <a:p>
            <a:pPr marL="0" indent="0">
              <a:spcAft>
                <a:spcPts val="0"/>
              </a:spcAft>
              <a:buNone/>
            </a:pPr>
            <a:r>
              <a:rPr lang="en-GB" sz="3600" b="1" dirty="0">
                <a:solidFill>
                  <a:srgbClr val="EAE7DF"/>
                </a:solidFill>
                <a:latin typeface="Helvetica Neue"/>
              </a:rPr>
              <a:t>Security board pack</a:t>
            </a:r>
          </a:p>
        </p:txBody>
      </p:sp>
      <p:sp>
        <p:nvSpPr>
          <p:cNvPr id="7" name="Cover rule"/>
          <p:cNvSpPr/>
          <p:nvPr/>
        </p:nvSpPr>
        <p:spPr>
          <a:xfrm>
            <a:off x="685800" y="4224528"/>
            <a:ext cx="1463040" cy="38100"/>
          </a:xfrm>
          <a:prstGeom prst="rect">
            <a:avLst/>
          </a:prstGeom>
          <a:solidFill>
            <a:srgbClr val="2FA98C"/>
          </a:solidFill>
          <a:ln>
            <a:noFill/>
          </a:ln>
        </p:spPr>
        <p:txBody>
          <a:bodyPr/>
          <a:lstStyle/>
          <a:p/>
        </p:txBody>
      </p:sp>
      <p:sp>
        <p:nvSpPr>
          <p:cNvPr id="8" name="Cover meta"/>
          <p:cNvSpPr txBox="1"/>
          <p:nvPr/>
        </p:nvSpPr>
        <p:spPr>
          <a:xfrm>
            <a:off x="685800" y="4553712"/>
            <a:ext cx="10820095" cy="1554480"/>
          </a:xfrm>
          <a:prstGeom prst="rect">
            <a:avLst/>
          </a:prstGeom>
          <a:noFill/>
        </p:spPr>
        <p:txBody>
          <a:bodyPr wrap="square" lIns="0" tIns="0" rIns="0" bIns="0">
            <a:normAutofit/>
          </a:bodyPr>
          <a:lstStyle/>
          <a:p>
            <a:pPr marL="0" indent="0">
              <a:spcAft>
                <a:spcPts val="260"/>
              </a:spcAft>
              <a:buNone/>
            </a:pPr>
            <a:r>
              <a:rPr lang="en-GB" sz="1200" b="0" dirty="0">
                <a:solidFill>
                  <a:srgbClr val="9AA0A6"/>
                </a:solidFill>
                <a:latin typeface="Helvetica Neue"/>
              </a:rPr>
              <a:t>Client  </a:t>
            </a:r>
            <a:r>
              <a:rPr lang="en-GB" sz="1200" b="0" dirty="0">
                <a:solidFill>
                  <a:srgbClr val="EAE7DF"/>
                </a:solidFill>
                <a:latin typeface="Helvetica Neue"/>
              </a:rPr>
              <a:t>Northwind Manufacturing (fictional)</a:t>
            </a:r>
          </a:p>
          <a:p>
            <a:pPr marL="0" indent="0">
              <a:spcAft>
                <a:spcPts val="260"/>
              </a:spcAft>
              <a:buNone/>
            </a:pPr>
            <a:r>
              <a:rPr lang="en-GB" sz="1200" b="0" dirty="0">
                <a:solidFill>
                  <a:srgbClr val="9AA0A6"/>
                </a:solidFill>
                <a:latin typeface="Helvetica Neue"/>
              </a:rPr>
              <a:t>Period  </a:t>
            </a:r>
            <a:r>
              <a:rPr lang="en-GB" sz="1200" b="0" dirty="0">
                <a:solidFill>
                  <a:srgbClr val="EAE7DF"/>
                </a:solidFill>
                <a:latin typeface="Helvetica Neue"/>
              </a:rPr>
              <a:t>Q3 2026 — SPECIMEN, not a real pack</a:t>
            </a:r>
          </a:p>
          <a:p>
            <a:pPr marL="0" indent="0">
              <a:spcAft>
                <a:spcPts val="260"/>
              </a:spcAft>
              <a:buNone/>
            </a:pPr>
            <a:r>
              <a:rPr lang="en-GB" sz="1200" b="0" dirty="0">
                <a:solidFill>
                  <a:srgbClr val="9AA0A6"/>
                </a:solidFill>
                <a:latin typeface="Helvetica Neue"/>
              </a:rPr>
              <a:t>Audience  </a:t>
            </a:r>
            <a:r>
              <a:rPr lang="en-GB" sz="1200" b="0" dirty="0">
                <a:solidFill>
                  <a:srgbClr val="EAE7DF"/>
                </a:solidFill>
                <a:latin typeface="Helvetica Neue"/>
              </a:rPr>
              <a:t>Board</a:t>
            </a:r>
          </a:p>
          <a:p>
            <a:pPr marL="0" indent="0">
              <a:spcAft>
                <a:spcPts val="260"/>
              </a:spcAft>
              <a:buNone/>
            </a:pPr>
            <a:r>
              <a:rPr lang="en-GB" sz="1200" b="0" dirty="0">
                <a:solidFill>
                  <a:srgbClr val="9AA0A6"/>
                </a:solidFill>
                <a:latin typeface="Helvetica Neue"/>
              </a:rPr>
              <a:t>As at  </a:t>
            </a:r>
            <a:r>
              <a:rPr lang="en-GB" sz="1200" b="0" dirty="0">
                <a:solidFill>
                  <a:srgbClr val="EAE7DF"/>
                </a:solidFill>
                <a:latin typeface="Helvetica Neue"/>
              </a:rPr>
              <a:t>2026-07-31</a:t>
            </a:r>
          </a:p>
        </p:txBody>
      </p:sp>
      <p:sp>
        <p:nvSpPr>
          <p:cNvPr id="9" name="Footer spark"/>
          <p:cNvSpPr/>
          <p:nvPr/>
        </p:nvSpPr>
        <p:spPr>
          <a:xfrm>
            <a:off x="685800" y="6304788"/>
            <a:ext cx="118872" cy="118872"/>
          </a:xfrm>
          <a:prstGeom prst="diamond">
            <a:avLst/>
          </a:prstGeom>
          <a:solidFill>
            <a:srgbClr val="2FA98C"/>
          </a:solidFill>
          <a:ln>
            <a:noFill/>
          </a:ln>
        </p:spPr>
        <p:txBody>
          <a:bodyPr/>
          <a:lstStyle/>
          <a:p/>
        </p:txBody>
      </p:sp>
      <p:sp>
        <p:nvSpPr>
          <p:cNvPr id="10"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9AA0A6"/>
                </a:solidFill>
                <a:latin typeface="Helvetica Neue"/>
              </a:rPr>
              <a:t>A Cyber Aware Creation · Not affiliated with NIST · as at 2026-07-31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Executive through-line</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0" indent="0">
              <a:spcAft>
                <a:spcPts val="700"/>
              </a:spcAft>
              <a:buNone/>
            </a:pPr>
            <a:r>
              <a:rPr lang="en-GB" sz="1400" b="0" dirty="0">
                <a:solidFill>
                  <a:srgbClr val="14171C"/>
                </a:solidFill>
                <a:latin typeface="Helvetica Neue"/>
              </a:rPr>
              <a:t>One thread runs through every section of this pack, and it is not the one we funded. What we funded improved: risks above appetite fell from three to two, and detection is producing the effect it was paid for. Third-party exposure did not. It appears here four times in four forms — as the framework outcome we have not started, because there is no supply-chain risk management programme and that governs what every other control is worth; as the single largest residual risk on the register; as the one of our four accepted risks and exceptions that passed its review date in April and was never re-confirmed; and, in July, as an incident. The vendor holding the customer records we accepted we do not control was breached, we determined it material on 14 July, and we filed on 17 July. The direction on everything else is right. The direction on this one is that a risk the board accepted became a risk the board disclosed, and the programme that would have managed it still has no owner.</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This quarter, in figures (1)</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Figure 1 panel"/>
          <p:cNvSpPr/>
          <p:nvPr/>
        </p:nvSpPr>
        <p:spPr>
          <a:xfrm>
            <a:off x="685800" y="1691640"/>
            <a:ext cx="5327751" cy="914400"/>
          </a:xfrm>
          <a:prstGeom prst="rect">
            <a:avLst/>
          </a:prstGeom>
          <a:solidFill>
            <a:srgbClr val="F6F4EE"/>
          </a:solidFill>
          <a:ln>
            <a:noFill/>
          </a:ln>
        </p:spPr>
        <p:txBody>
          <a:bodyPr/>
          <a:lstStyle/>
          <a:p/>
        </p:txBody>
      </p:sp>
      <p:sp>
        <p:nvSpPr>
          <p:cNvPr id="8" name="Figure 1"/>
          <p:cNvSpPr txBox="1"/>
          <p:nvPr/>
        </p:nvSpPr>
        <p:spPr>
          <a:xfrm>
            <a:off x="868680" y="1837944"/>
            <a:ext cx="4961991" cy="658368"/>
          </a:xfrm>
          <a:prstGeom prst="rect">
            <a:avLst/>
          </a:prstGeom>
          <a:noFill/>
        </p:spPr>
        <p:txBody>
          <a:bodyPr wrap="square" lIns="0" tIns="0" rIns="0" bIns="0">
            <a:normAutofit/>
          </a:bodyPr>
          <a:lstStyle/>
          <a:p>
            <a:pPr marL="0" indent="0">
              <a:spcAft>
                <a:spcPts val="160"/>
              </a:spcAft>
              <a:buNone/>
            </a:pPr>
            <a:r>
              <a:rPr lang="en-GB" sz="1800" b="1" dirty="0">
                <a:solidFill>
                  <a:srgbClr val="14171C"/>
                </a:solidFill>
                <a:latin typeface="Helvetica Neue"/>
              </a:rPr>
              <a:t>6</a:t>
            </a:r>
          </a:p>
          <a:p>
            <a:pPr marL="0" indent="0">
              <a:spcAft>
                <a:spcPts val="0"/>
              </a:spcAft>
              <a:buNone/>
            </a:pPr>
            <a:r>
              <a:rPr lang="en-GB" sz="1050" b="0" dirty="0">
                <a:solidFill>
                  <a:srgbClr val="4A4F58"/>
                </a:solidFill>
                <a:latin typeface="Helvetica Neue"/>
              </a:rPr>
              <a:t>outcomes short of target</a:t>
            </a:r>
          </a:p>
        </p:txBody>
      </p:sp>
      <p:sp>
        <p:nvSpPr>
          <p:cNvPr id="9" name="Figure 2 panel"/>
          <p:cNvSpPr/>
          <p:nvPr/>
        </p:nvSpPr>
        <p:spPr>
          <a:xfrm>
            <a:off x="6178143" y="1691640"/>
            <a:ext cx="5327751" cy="914400"/>
          </a:xfrm>
          <a:prstGeom prst="rect">
            <a:avLst/>
          </a:prstGeom>
          <a:solidFill>
            <a:srgbClr val="F6F4EE"/>
          </a:solidFill>
          <a:ln>
            <a:noFill/>
          </a:ln>
        </p:spPr>
        <p:txBody>
          <a:bodyPr/>
          <a:lstStyle/>
          <a:p/>
        </p:txBody>
      </p:sp>
      <p:sp>
        <p:nvSpPr>
          <p:cNvPr id="10" name="Figure 2"/>
          <p:cNvSpPr txBox="1"/>
          <p:nvPr/>
        </p:nvSpPr>
        <p:spPr>
          <a:xfrm>
            <a:off x="6361023" y="1837944"/>
            <a:ext cx="4961991" cy="658368"/>
          </a:xfrm>
          <a:prstGeom prst="rect">
            <a:avLst/>
          </a:prstGeom>
          <a:noFill/>
        </p:spPr>
        <p:txBody>
          <a:bodyPr wrap="square" lIns="0" tIns="0" rIns="0" bIns="0">
            <a:normAutofit/>
          </a:bodyPr>
          <a:lstStyle/>
          <a:p>
            <a:pPr marL="0" indent="0">
              <a:spcAft>
                <a:spcPts val="160"/>
              </a:spcAft>
              <a:buNone/>
            </a:pPr>
            <a:r>
              <a:rPr lang="en-GB" sz="1800" b="1" dirty="0">
                <a:solidFill>
                  <a:srgbClr val="14171C"/>
                </a:solidFill>
                <a:latin typeface="Helvetica Neue"/>
              </a:rPr>
              <a:t>8</a:t>
            </a:r>
          </a:p>
          <a:p>
            <a:pPr marL="0" indent="0">
              <a:spcAft>
                <a:spcPts val="0"/>
              </a:spcAft>
              <a:buNone/>
            </a:pPr>
            <a:r>
              <a:rPr lang="en-GB" sz="1050" b="0" dirty="0">
                <a:solidFill>
                  <a:srgbClr val="4A4F58"/>
                </a:solidFill>
                <a:latin typeface="Helvetica Neue"/>
              </a:rPr>
              <a:t>outcomes assessed</a:t>
            </a:r>
          </a:p>
        </p:txBody>
      </p:sp>
      <p:sp>
        <p:nvSpPr>
          <p:cNvPr id="11" name="Figure 3 panel"/>
          <p:cNvSpPr/>
          <p:nvPr/>
        </p:nvSpPr>
        <p:spPr>
          <a:xfrm>
            <a:off x="685800" y="2743200"/>
            <a:ext cx="5327751" cy="914400"/>
          </a:xfrm>
          <a:prstGeom prst="rect">
            <a:avLst/>
          </a:prstGeom>
          <a:solidFill>
            <a:srgbClr val="F6F4EE"/>
          </a:solidFill>
          <a:ln>
            <a:noFill/>
          </a:ln>
        </p:spPr>
        <p:txBody>
          <a:bodyPr/>
          <a:lstStyle/>
          <a:p/>
        </p:txBody>
      </p:sp>
      <p:sp>
        <p:nvSpPr>
          <p:cNvPr id="12" name="Figure 3 rule [critical]"/>
          <p:cNvSpPr/>
          <p:nvPr/>
        </p:nvSpPr>
        <p:spPr>
          <a:xfrm>
            <a:off x="685800" y="2743200"/>
            <a:ext cx="38100" cy="914400"/>
          </a:xfrm>
          <a:prstGeom prst="rect">
            <a:avLst/>
          </a:prstGeom>
          <a:solidFill>
            <a:srgbClr val="8B2119"/>
          </a:solidFill>
          <a:ln>
            <a:noFill/>
          </a:ln>
        </p:spPr>
        <p:txBody>
          <a:bodyPr/>
          <a:lstStyle/>
          <a:p/>
        </p:txBody>
      </p:sp>
      <p:sp>
        <p:nvSpPr>
          <p:cNvPr id="13" name="Figure 3 [critical]"/>
          <p:cNvSpPr txBox="1"/>
          <p:nvPr/>
        </p:nvSpPr>
        <p:spPr>
          <a:xfrm>
            <a:off x="868680" y="2889504"/>
            <a:ext cx="4961991" cy="658368"/>
          </a:xfrm>
          <a:prstGeom prst="rect">
            <a:avLst/>
          </a:prstGeom>
          <a:noFill/>
        </p:spPr>
        <p:txBody>
          <a:bodyPr wrap="square" lIns="0" tIns="0" rIns="0" bIns="0">
            <a:normAutofit/>
          </a:bodyPr>
          <a:lstStyle/>
          <a:p>
            <a:pPr marL="0" indent="0">
              <a:spcAft>
                <a:spcPts val="160"/>
              </a:spcAft>
              <a:buNone/>
            </a:pPr>
            <a:r>
              <a:rPr lang="en-GB" sz="1800" b="1" dirty="0">
                <a:solidFill>
                  <a:srgbClr val="8B2119"/>
                </a:solidFill>
                <a:latin typeface="Helvetica Neue"/>
              </a:rPr>
              <a:t>2</a:t>
            </a:r>
            <a:r>
              <a:rPr lang="en-GB" sz="1000" b="1" dirty="0">
                <a:solidFill>
                  <a:srgbClr val="8B2119"/>
                </a:solidFill>
                <a:latin typeface="Helvetica Neue"/>
              </a:rPr>
              <a:t>   Critical</a:t>
            </a:r>
          </a:p>
          <a:p>
            <a:pPr marL="0" indent="0">
              <a:spcAft>
                <a:spcPts val="0"/>
              </a:spcAft>
              <a:buNone/>
            </a:pPr>
            <a:r>
              <a:rPr lang="en-GB" sz="1050" b="0" dirty="0">
                <a:solidFill>
                  <a:srgbClr val="4A4F58"/>
                </a:solidFill>
                <a:latin typeface="Helvetica Neue"/>
              </a:rPr>
              <a:t>risks over appetite</a:t>
            </a:r>
          </a:p>
        </p:txBody>
      </p:sp>
      <p:sp>
        <p:nvSpPr>
          <p:cNvPr id="14" name="Figure 4 panel"/>
          <p:cNvSpPr/>
          <p:nvPr/>
        </p:nvSpPr>
        <p:spPr>
          <a:xfrm>
            <a:off x="6178143" y="2743200"/>
            <a:ext cx="5327751" cy="914400"/>
          </a:xfrm>
          <a:prstGeom prst="rect">
            <a:avLst/>
          </a:prstGeom>
          <a:solidFill>
            <a:srgbClr val="F6F4EE"/>
          </a:solidFill>
          <a:ln>
            <a:noFill/>
          </a:ln>
        </p:spPr>
        <p:txBody>
          <a:bodyPr/>
          <a:lstStyle/>
          <a:p/>
        </p:txBody>
      </p:sp>
      <p:sp>
        <p:nvSpPr>
          <p:cNvPr id="15" name="Figure 4"/>
          <p:cNvSpPr txBox="1"/>
          <p:nvPr/>
        </p:nvSpPr>
        <p:spPr>
          <a:xfrm>
            <a:off x="6361023" y="2889504"/>
            <a:ext cx="4961991" cy="658368"/>
          </a:xfrm>
          <a:prstGeom prst="rect">
            <a:avLst/>
          </a:prstGeom>
          <a:noFill/>
        </p:spPr>
        <p:txBody>
          <a:bodyPr wrap="square" lIns="0" tIns="0" rIns="0" bIns="0">
            <a:normAutofit/>
          </a:bodyPr>
          <a:lstStyle/>
          <a:p>
            <a:pPr marL="0" indent="0">
              <a:spcAft>
                <a:spcPts val="160"/>
              </a:spcAft>
              <a:buNone/>
            </a:pPr>
            <a:r>
              <a:rPr lang="en-GB" sz="1800" b="1" dirty="0">
                <a:solidFill>
                  <a:srgbClr val="14171C"/>
                </a:solidFill>
                <a:latin typeface="Helvetica Neue"/>
              </a:rPr>
              <a:t>11</a:t>
            </a:r>
          </a:p>
          <a:p>
            <a:pPr marL="0" indent="0">
              <a:spcAft>
                <a:spcPts val="0"/>
              </a:spcAft>
              <a:buNone/>
            </a:pPr>
            <a:r>
              <a:rPr lang="en-GB" sz="1050" b="0" dirty="0">
                <a:solidFill>
                  <a:srgbClr val="4A4F58"/>
                </a:solidFill>
                <a:latin typeface="Helvetica Neue"/>
              </a:rPr>
              <a:t>risks tracked</a:t>
            </a:r>
          </a:p>
        </p:txBody>
      </p:sp>
      <p:sp>
        <p:nvSpPr>
          <p:cNvPr id="16" name="Figure 5 panel"/>
          <p:cNvSpPr/>
          <p:nvPr/>
        </p:nvSpPr>
        <p:spPr>
          <a:xfrm>
            <a:off x="685800" y="3794760"/>
            <a:ext cx="5327751" cy="914400"/>
          </a:xfrm>
          <a:prstGeom prst="rect">
            <a:avLst/>
          </a:prstGeom>
          <a:solidFill>
            <a:srgbClr val="F6F4EE"/>
          </a:solidFill>
          <a:ln>
            <a:noFill/>
          </a:ln>
        </p:spPr>
        <p:txBody>
          <a:bodyPr/>
          <a:lstStyle/>
          <a:p/>
        </p:txBody>
      </p:sp>
      <p:sp>
        <p:nvSpPr>
          <p:cNvPr id="17" name="Figure 5"/>
          <p:cNvSpPr txBox="1"/>
          <p:nvPr/>
        </p:nvSpPr>
        <p:spPr>
          <a:xfrm>
            <a:off x="868680" y="3941064"/>
            <a:ext cx="4961991" cy="658368"/>
          </a:xfrm>
          <a:prstGeom prst="rect">
            <a:avLst/>
          </a:prstGeom>
          <a:noFill/>
        </p:spPr>
        <p:txBody>
          <a:bodyPr wrap="square" lIns="0" tIns="0" rIns="0" bIns="0">
            <a:normAutofit/>
          </a:bodyPr>
          <a:lstStyle/>
          <a:p>
            <a:pPr marL="0" indent="0">
              <a:spcAft>
                <a:spcPts val="160"/>
              </a:spcAft>
              <a:buNone/>
            </a:pPr>
            <a:r>
              <a:rPr lang="en-GB" sz="1800" b="1" dirty="0">
                <a:solidFill>
                  <a:srgbClr val="14171C"/>
                </a:solidFill>
                <a:latin typeface="Helvetica Neue"/>
              </a:rPr>
              <a:t>GBP 340,000</a:t>
            </a:r>
          </a:p>
          <a:p>
            <a:pPr marL="0" indent="0">
              <a:spcAft>
                <a:spcPts val="0"/>
              </a:spcAft>
              <a:buNone/>
            </a:pPr>
            <a:r>
              <a:rPr lang="en-GB" sz="1050" b="0" dirty="0">
                <a:solidFill>
                  <a:srgbClr val="4A4F58"/>
                </a:solidFill>
                <a:latin typeface="Helvetica Neue"/>
              </a:rPr>
              <a:t>recorded treatment cost, 6 of 9 open risks priced</a:t>
            </a:r>
          </a:p>
        </p:txBody>
      </p:sp>
      <p:sp>
        <p:nvSpPr>
          <p:cNvPr id="18" name="Figure 6 panel"/>
          <p:cNvSpPr/>
          <p:nvPr/>
        </p:nvSpPr>
        <p:spPr>
          <a:xfrm>
            <a:off x="6178143" y="3794760"/>
            <a:ext cx="5327751" cy="914400"/>
          </a:xfrm>
          <a:prstGeom prst="rect">
            <a:avLst/>
          </a:prstGeom>
          <a:solidFill>
            <a:srgbClr val="F6F4EE"/>
          </a:solidFill>
          <a:ln>
            <a:noFill/>
          </a:ln>
        </p:spPr>
        <p:txBody>
          <a:bodyPr/>
          <a:lstStyle/>
          <a:p/>
        </p:txBody>
      </p:sp>
      <p:sp>
        <p:nvSpPr>
          <p:cNvPr id="19" name="Figure 6"/>
          <p:cNvSpPr txBox="1"/>
          <p:nvPr/>
        </p:nvSpPr>
        <p:spPr>
          <a:xfrm>
            <a:off x="6361023" y="3941064"/>
            <a:ext cx="4961991" cy="658368"/>
          </a:xfrm>
          <a:prstGeom prst="rect">
            <a:avLst/>
          </a:prstGeom>
          <a:noFill/>
        </p:spPr>
        <p:txBody>
          <a:bodyPr wrap="square" lIns="0" tIns="0" rIns="0" bIns="0">
            <a:normAutofit/>
          </a:bodyPr>
          <a:lstStyle/>
          <a:p>
            <a:pPr marL="0" indent="0">
              <a:spcAft>
                <a:spcPts val="160"/>
              </a:spcAft>
              <a:buNone/>
            </a:pPr>
            <a:r>
              <a:rPr lang="en-GB" sz="1800" b="1" dirty="0">
                <a:solidFill>
                  <a:srgbClr val="14171C"/>
                </a:solidFill>
                <a:latin typeface="Helvetica Neue"/>
              </a:rPr>
              <a:t>4</a:t>
            </a:r>
          </a:p>
          <a:p>
            <a:pPr marL="0" indent="0">
              <a:spcAft>
                <a:spcPts val="0"/>
              </a:spcAft>
              <a:buNone/>
            </a:pPr>
            <a:r>
              <a:rPr lang="en-GB" sz="1050" b="0" dirty="0">
                <a:solidFill>
                  <a:srgbClr val="4A4F58"/>
                </a:solidFill>
                <a:latin typeface="Helvetica Neue"/>
              </a:rPr>
              <a:t>third-party arrangements tracked</a:t>
            </a:r>
          </a:p>
        </p:txBody>
      </p:sp>
      <p:sp>
        <p:nvSpPr>
          <p:cNvPr id="20" name="Figure 7 panel"/>
          <p:cNvSpPr/>
          <p:nvPr/>
        </p:nvSpPr>
        <p:spPr>
          <a:xfrm>
            <a:off x="685800" y="4846320"/>
            <a:ext cx="5327751" cy="914400"/>
          </a:xfrm>
          <a:prstGeom prst="rect">
            <a:avLst/>
          </a:prstGeom>
          <a:solidFill>
            <a:srgbClr val="F6F4EE"/>
          </a:solidFill>
          <a:ln>
            <a:noFill/>
          </a:ln>
        </p:spPr>
        <p:txBody>
          <a:bodyPr/>
          <a:lstStyle/>
          <a:p/>
        </p:txBody>
      </p:sp>
      <p:sp>
        <p:nvSpPr>
          <p:cNvPr id="21" name="Figure 7 rule [critical]"/>
          <p:cNvSpPr/>
          <p:nvPr/>
        </p:nvSpPr>
        <p:spPr>
          <a:xfrm>
            <a:off x="685800" y="4846320"/>
            <a:ext cx="38100" cy="914400"/>
          </a:xfrm>
          <a:prstGeom prst="rect">
            <a:avLst/>
          </a:prstGeom>
          <a:solidFill>
            <a:srgbClr val="8B2119"/>
          </a:solidFill>
          <a:ln>
            <a:noFill/>
          </a:ln>
        </p:spPr>
        <p:txBody>
          <a:bodyPr/>
          <a:lstStyle/>
          <a:p/>
        </p:txBody>
      </p:sp>
      <p:sp>
        <p:nvSpPr>
          <p:cNvPr id="22" name="Figure 7 [critical]"/>
          <p:cNvSpPr txBox="1"/>
          <p:nvPr/>
        </p:nvSpPr>
        <p:spPr>
          <a:xfrm>
            <a:off x="868680" y="4992624"/>
            <a:ext cx="4961991" cy="658368"/>
          </a:xfrm>
          <a:prstGeom prst="rect">
            <a:avLst/>
          </a:prstGeom>
          <a:noFill/>
        </p:spPr>
        <p:txBody>
          <a:bodyPr wrap="square" lIns="0" tIns="0" rIns="0" bIns="0">
            <a:normAutofit/>
          </a:bodyPr>
          <a:lstStyle/>
          <a:p>
            <a:pPr marL="0" indent="0">
              <a:spcAft>
                <a:spcPts val="160"/>
              </a:spcAft>
              <a:buNone/>
            </a:pPr>
            <a:r>
              <a:rPr lang="en-GB" sz="1800" b="1" dirty="0">
                <a:solidFill>
                  <a:srgbClr val="8B2119"/>
                </a:solidFill>
                <a:latin typeface="Helvetica Neue"/>
              </a:rPr>
              <a:t>2</a:t>
            </a:r>
            <a:r>
              <a:rPr lang="en-GB" sz="1000" b="1" dirty="0">
                <a:solidFill>
                  <a:srgbClr val="8B2119"/>
                </a:solidFill>
                <a:latin typeface="Helvetica Neue"/>
              </a:rPr>
              <a:t>   Critical</a:t>
            </a:r>
          </a:p>
          <a:p>
            <a:pPr marL="0" indent="0">
              <a:spcAft>
                <a:spcPts val="0"/>
              </a:spcAft>
              <a:buNone/>
            </a:pPr>
            <a:r>
              <a:rPr lang="en-GB" sz="1050" b="0" dirty="0">
                <a:solidFill>
                  <a:srgbClr val="4A4F58"/>
                </a:solidFill>
                <a:latin typeface="Helvetica Neue"/>
              </a:rPr>
              <a:t>whose criticality is untraced or unassigned</a:t>
            </a:r>
          </a:p>
        </p:txBody>
      </p:sp>
      <p:sp>
        <p:nvSpPr>
          <p:cNvPr id="23" name="Figure 8 panel"/>
          <p:cNvSpPr/>
          <p:nvPr/>
        </p:nvSpPr>
        <p:spPr>
          <a:xfrm>
            <a:off x="6178143" y="4846320"/>
            <a:ext cx="5327751" cy="914400"/>
          </a:xfrm>
          <a:prstGeom prst="rect">
            <a:avLst/>
          </a:prstGeom>
          <a:solidFill>
            <a:srgbClr val="F6F4EE"/>
          </a:solidFill>
          <a:ln>
            <a:noFill/>
          </a:ln>
        </p:spPr>
        <p:txBody>
          <a:bodyPr/>
          <a:lstStyle/>
          <a:p/>
        </p:txBody>
      </p:sp>
      <p:sp>
        <p:nvSpPr>
          <p:cNvPr id="24" name="Figure 8"/>
          <p:cNvSpPr txBox="1"/>
          <p:nvPr/>
        </p:nvSpPr>
        <p:spPr>
          <a:xfrm>
            <a:off x="6361023" y="4992624"/>
            <a:ext cx="4961991" cy="658368"/>
          </a:xfrm>
          <a:prstGeom prst="rect">
            <a:avLst/>
          </a:prstGeom>
          <a:noFill/>
        </p:spPr>
        <p:txBody>
          <a:bodyPr wrap="square" lIns="0" tIns="0" rIns="0" bIns="0">
            <a:normAutofit/>
          </a:bodyPr>
          <a:lstStyle/>
          <a:p>
            <a:pPr marL="0" indent="0">
              <a:spcAft>
                <a:spcPts val="160"/>
              </a:spcAft>
              <a:buNone/>
            </a:pPr>
            <a:r>
              <a:rPr lang="en-GB" sz="1800" b="1" dirty="0">
                <a:solidFill>
                  <a:srgbClr val="14171C"/>
                </a:solidFill>
                <a:latin typeface="Helvetica Neue"/>
              </a:rPr>
              <a:t>5</a:t>
            </a:r>
          </a:p>
          <a:p>
            <a:pPr marL="0" indent="0">
              <a:spcAft>
                <a:spcPts val="0"/>
              </a:spcAft>
              <a:buNone/>
            </a:pPr>
            <a:r>
              <a:rPr lang="en-GB" sz="1050" b="0" dirty="0">
                <a:solidFill>
                  <a:srgbClr val="4A4F58"/>
                </a:solidFill>
                <a:latin typeface="Helvetica Neue"/>
              </a:rPr>
              <a:t>AI deployments tracked</a:t>
            </a:r>
          </a:p>
        </p:txBody>
      </p:sp>
      <p:sp>
        <p:nvSpPr>
          <p:cNvPr id="25" name="Figures note"/>
          <p:cNvSpPr txBox="1"/>
          <p:nvPr/>
        </p:nvSpPr>
        <p:spPr>
          <a:xfrm>
            <a:off x="685800" y="5870448"/>
            <a:ext cx="10820095" cy="292608"/>
          </a:xfrm>
          <a:prstGeom prst="rect">
            <a:avLst/>
          </a:prstGeom>
          <a:noFill/>
        </p:spPr>
        <p:txBody>
          <a:bodyPr wrap="square" lIns="0" tIns="0" rIns="0" bIns="0">
            <a:normAutofit/>
          </a:bodyPr>
          <a:lstStyle/>
          <a:p>
            <a:pPr marL="0" indent="0">
              <a:spcAft>
                <a:spcPts val="0"/>
              </a:spcAft>
              <a:buNone/>
            </a:pPr>
            <a:r>
              <a:rPr lang="en-GB" sz="1000" b="0" dirty="0">
                <a:solidFill>
                  <a:srgbClr val="4A4F58"/>
                </a:solidFill>
                <a:latin typeface="Helvetica Neue"/>
              </a:rPr>
              <a:t>Every figure was computed by the skill that owns it and read here unchanged. The pack calculates nothing.</a:t>
            </a:r>
          </a:p>
        </p:txBody>
      </p:sp>
      <p:sp>
        <p:nvSpPr>
          <p:cNvPr id="26" name="Footer spark"/>
          <p:cNvSpPr/>
          <p:nvPr/>
        </p:nvSpPr>
        <p:spPr>
          <a:xfrm>
            <a:off x="685800" y="6304788"/>
            <a:ext cx="118872" cy="118872"/>
          </a:xfrm>
          <a:prstGeom prst="diamond">
            <a:avLst/>
          </a:prstGeom>
          <a:solidFill>
            <a:srgbClr val="2FA98C"/>
          </a:solidFill>
          <a:ln>
            <a:noFill/>
          </a:ln>
        </p:spPr>
        <p:txBody>
          <a:bodyPr/>
          <a:lstStyle/>
          <a:p/>
        </p:txBody>
      </p:sp>
      <p:sp>
        <p:nvSpPr>
          <p:cNvPr id="27"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This quarter, in figures (2)</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Figure 9 panel"/>
          <p:cNvSpPr/>
          <p:nvPr/>
        </p:nvSpPr>
        <p:spPr>
          <a:xfrm>
            <a:off x="685800" y="1691640"/>
            <a:ext cx="5327751" cy="914400"/>
          </a:xfrm>
          <a:prstGeom prst="rect">
            <a:avLst/>
          </a:prstGeom>
          <a:solidFill>
            <a:srgbClr val="F6F4EE"/>
          </a:solidFill>
          <a:ln>
            <a:noFill/>
          </a:ln>
        </p:spPr>
        <p:txBody>
          <a:bodyPr/>
          <a:lstStyle/>
          <a:p/>
        </p:txBody>
      </p:sp>
      <p:sp>
        <p:nvSpPr>
          <p:cNvPr id="8" name="Figure 9"/>
          <p:cNvSpPr txBox="1"/>
          <p:nvPr/>
        </p:nvSpPr>
        <p:spPr>
          <a:xfrm>
            <a:off x="868680" y="1837944"/>
            <a:ext cx="4961991" cy="658368"/>
          </a:xfrm>
          <a:prstGeom prst="rect">
            <a:avLst/>
          </a:prstGeom>
          <a:noFill/>
        </p:spPr>
        <p:txBody>
          <a:bodyPr wrap="square" lIns="0" tIns="0" rIns="0" bIns="0">
            <a:normAutofit/>
          </a:bodyPr>
          <a:lstStyle/>
          <a:p>
            <a:pPr marL="0" indent="0">
              <a:spcAft>
                <a:spcPts val="160"/>
              </a:spcAft>
              <a:buNone/>
            </a:pPr>
            <a:r>
              <a:rPr lang="en-GB" sz="1800" b="1" dirty="0">
                <a:solidFill>
                  <a:srgbClr val="14171C"/>
                </a:solidFill>
                <a:latin typeface="Helvetica Neue"/>
              </a:rPr>
              <a:t>19</a:t>
            </a:r>
          </a:p>
          <a:p>
            <a:pPr marL="0" indent="0">
              <a:spcAft>
                <a:spcPts val="0"/>
              </a:spcAft>
              <a:buNone/>
            </a:pPr>
            <a:r>
              <a:rPr lang="en-GB" sz="1050" b="0" dirty="0">
                <a:solidFill>
                  <a:srgbClr val="4A4F58"/>
                </a:solidFill>
                <a:latin typeface="Helvetica Neue"/>
              </a:rPr>
              <a:t>attack classes with no control recorded</a:t>
            </a:r>
          </a:p>
        </p:txBody>
      </p:sp>
      <p:sp>
        <p:nvSpPr>
          <p:cNvPr id="9" name="Figure 10 panel"/>
          <p:cNvSpPr/>
          <p:nvPr/>
        </p:nvSpPr>
        <p:spPr>
          <a:xfrm>
            <a:off x="6178143" y="1691640"/>
            <a:ext cx="5327751" cy="914400"/>
          </a:xfrm>
          <a:prstGeom prst="rect">
            <a:avLst/>
          </a:prstGeom>
          <a:solidFill>
            <a:srgbClr val="F6F4EE"/>
          </a:solidFill>
          <a:ln>
            <a:noFill/>
          </a:ln>
        </p:spPr>
        <p:txBody>
          <a:bodyPr/>
          <a:lstStyle/>
          <a:p/>
        </p:txBody>
      </p:sp>
      <p:sp>
        <p:nvSpPr>
          <p:cNvPr id="10" name="Figure 10 rule [critical]"/>
          <p:cNvSpPr/>
          <p:nvPr/>
        </p:nvSpPr>
        <p:spPr>
          <a:xfrm>
            <a:off x="6178143" y="1691640"/>
            <a:ext cx="38100" cy="914400"/>
          </a:xfrm>
          <a:prstGeom prst="rect">
            <a:avLst/>
          </a:prstGeom>
          <a:solidFill>
            <a:srgbClr val="8B2119"/>
          </a:solidFill>
          <a:ln>
            <a:noFill/>
          </a:ln>
        </p:spPr>
        <p:txBody>
          <a:bodyPr/>
          <a:lstStyle/>
          <a:p/>
        </p:txBody>
      </p:sp>
      <p:sp>
        <p:nvSpPr>
          <p:cNvPr id="11" name="Figure 10 [critical]"/>
          <p:cNvSpPr txBox="1"/>
          <p:nvPr/>
        </p:nvSpPr>
        <p:spPr>
          <a:xfrm>
            <a:off x="6361023" y="1837944"/>
            <a:ext cx="4961991" cy="658368"/>
          </a:xfrm>
          <a:prstGeom prst="rect">
            <a:avLst/>
          </a:prstGeom>
          <a:noFill/>
        </p:spPr>
        <p:txBody>
          <a:bodyPr wrap="square" lIns="0" tIns="0" rIns="0" bIns="0">
            <a:normAutofit/>
          </a:bodyPr>
          <a:lstStyle/>
          <a:p>
            <a:pPr marL="0" indent="0">
              <a:spcAft>
                <a:spcPts val="160"/>
              </a:spcAft>
              <a:buNone/>
            </a:pPr>
            <a:r>
              <a:rPr lang="en-GB" sz="1800" b="1" dirty="0">
                <a:solidFill>
                  <a:srgbClr val="8B2119"/>
                </a:solidFill>
                <a:latin typeface="Helvetica Neue"/>
              </a:rPr>
              <a:t>1</a:t>
            </a:r>
            <a:r>
              <a:rPr lang="en-GB" sz="1000" b="1" dirty="0">
                <a:solidFill>
                  <a:srgbClr val="8B2119"/>
                </a:solidFill>
                <a:latin typeface="Helvetica Neue"/>
              </a:rPr>
              <a:t>   Critical</a:t>
            </a:r>
          </a:p>
          <a:p>
            <a:pPr marL="0" indent="0">
              <a:spcAft>
                <a:spcPts val="0"/>
              </a:spcAft>
              <a:buNone/>
            </a:pPr>
            <a:r>
              <a:rPr lang="en-GB" sz="1050" b="0" dirty="0">
                <a:solidFill>
                  <a:srgbClr val="4A4F58"/>
                </a:solidFill>
                <a:latin typeface="Helvetica Neue"/>
              </a:rPr>
              <a:t>running on systems nobody sanctioned</a:t>
            </a:r>
          </a:p>
        </p:txBody>
      </p:sp>
      <p:sp>
        <p:nvSpPr>
          <p:cNvPr id="12" name="Figure 11 panel"/>
          <p:cNvSpPr/>
          <p:nvPr/>
        </p:nvSpPr>
        <p:spPr>
          <a:xfrm>
            <a:off x="685800" y="2743200"/>
            <a:ext cx="5327751" cy="914400"/>
          </a:xfrm>
          <a:prstGeom prst="rect">
            <a:avLst/>
          </a:prstGeom>
          <a:solidFill>
            <a:srgbClr val="F6F4EE"/>
          </a:solidFill>
          <a:ln>
            <a:noFill/>
          </a:ln>
        </p:spPr>
        <p:txBody>
          <a:bodyPr/>
          <a:lstStyle/>
          <a:p/>
        </p:txBody>
      </p:sp>
      <p:sp>
        <p:nvSpPr>
          <p:cNvPr id="13" name="Figure 11 rule [critical]"/>
          <p:cNvSpPr/>
          <p:nvPr/>
        </p:nvSpPr>
        <p:spPr>
          <a:xfrm>
            <a:off x="685800" y="2743200"/>
            <a:ext cx="38100" cy="914400"/>
          </a:xfrm>
          <a:prstGeom prst="rect">
            <a:avLst/>
          </a:prstGeom>
          <a:solidFill>
            <a:srgbClr val="8B2119"/>
          </a:solidFill>
          <a:ln>
            <a:noFill/>
          </a:ln>
        </p:spPr>
        <p:txBody>
          <a:bodyPr/>
          <a:lstStyle/>
          <a:p/>
        </p:txBody>
      </p:sp>
      <p:sp>
        <p:nvSpPr>
          <p:cNvPr id="14" name="Figure 11 [critical]"/>
          <p:cNvSpPr txBox="1"/>
          <p:nvPr/>
        </p:nvSpPr>
        <p:spPr>
          <a:xfrm>
            <a:off x="868680" y="2889504"/>
            <a:ext cx="4961991" cy="658368"/>
          </a:xfrm>
          <a:prstGeom prst="rect">
            <a:avLst/>
          </a:prstGeom>
          <a:noFill/>
        </p:spPr>
        <p:txBody>
          <a:bodyPr wrap="square" lIns="0" tIns="0" rIns="0" bIns="0">
            <a:normAutofit/>
          </a:bodyPr>
          <a:lstStyle/>
          <a:p>
            <a:pPr marL="0" indent="0">
              <a:spcAft>
                <a:spcPts val="160"/>
              </a:spcAft>
              <a:buNone/>
            </a:pPr>
            <a:r>
              <a:rPr lang="en-GB" sz="1800" b="1" dirty="0">
                <a:solidFill>
                  <a:srgbClr val="8B2119"/>
                </a:solidFill>
                <a:latin typeface="Helvetica Neue"/>
              </a:rPr>
              <a:t>3</a:t>
            </a:r>
            <a:r>
              <a:rPr lang="en-GB" sz="1000" b="1" dirty="0">
                <a:solidFill>
                  <a:srgbClr val="8B2119"/>
                </a:solidFill>
                <a:latin typeface="Helvetica Neue"/>
              </a:rPr>
              <a:t>   Critical</a:t>
            </a:r>
          </a:p>
          <a:p>
            <a:pPr marL="0" indent="0">
              <a:spcAft>
                <a:spcPts val="0"/>
              </a:spcAft>
              <a:buNone/>
            </a:pPr>
            <a:r>
              <a:rPr lang="en-GB" sz="1050" b="0" dirty="0">
                <a:solidFill>
                  <a:srgbClr val="4A4F58"/>
                </a:solidFill>
                <a:latin typeface="Helvetica Neue"/>
              </a:rPr>
              <a:t>metrics past a threshold</a:t>
            </a:r>
          </a:p>
        </p:txBody>
      </p:sp>
      <p:sp>
        <p:nvSpPr>
          <p:cNvPr id="15" name="Figure 12 panel"/>
          <p:cNvSpPr/>
          <p:nvPr/>
        </p:nvSpPr>
        <p:spPr>
          <a:xfrm>
            <a:off x="6178143" y="2743200"/>
            <a:ext cx="5327751" cy="914400"/>
          </a:xfrm>
          <a:prstGeom prst="rect">
            <a:avLst/>
          </a:prstGeom>
          <a:solidFill>
            <a:srgbClr val="F6F4EE"/>
          </a:solidFill>
          <a:ln>
            <a:noFill/>
          </a:ln>
        </p:spPr>
        <p:txBody>
          <a:bodyPr/>
          <a:lstStyle/>
          <a:p/>
        </p:txBody>
      </p:sp>
      <p:sp>
        <p:nvSpPr>
          <p:cNvPr id="16" name="Figure 12 rule [high]"/>
          <p:cNvSpPr/>
          <p:nvPr/>
        </p:nvSpPr>
        <p:spPr>
          <a:xfrm>
            <a:off x="6178143" y="2743200"/>
            <a:ext cx="38100" cy="914400"/>
          </a:xfrm>
          <a:prstGeom prst="rect">
            <a:avLst/>
          </a:prstGeom>
          <a:solidFill>
            <a:srgbClr val="8F5B06"/>
          </a:solidFill>
          <a:ln>
            <a:noFill/>
          </a:ln>
        </p:spPr>
        <p:txBody>
          <a:bodyPr/>
          <a:lstStyle/>
          <a:p/>
        </p:txBody>
      </p:sp>
      <p:sp>
        <p:nvSpPr>
          <p:cNvPr id="17" name="Figure 12 [high]"/>
          <p:cNvSpPr txBox="1"/>
          <p:nvPr/>
        </p:nvSpPr>
        <p:spPr>
          <a:xfrm>
            <a:off x="6361023" y="2889504"/>
            <a:ext cx="4961991" cy="658368"/>
          </a:xfrm>
          <a:prstGeom prst="rect">
            <a:avLst/>
          </a:prstGeom>
          <a:noFill/>
        </p:spPr>
        <p:txBody>
          <a:bodyPr wrap="square" lIns="0" tIns="0" rIns="0" bIns="0">
            <a:normAutofit/>
          </a:bodyPr>
          <a:lstStyle/>
          <a:p>
            <a:pPr marL="0" indent="0">
              <a:spcAft>
                <a:spcPts val="160"/>
              </a:spcAft>
              <a:buNone/>
            </a:pPr>
            <a:r>
              <a:rPr lang="en-GB" sz="1800" b="1" dirty="0">
                <a:solidFill>
                  <a:srgbClr val="8F5B06"/>
                </a:solidFill>
                <a:latin typeface="Helvetica Neue"/>
              </a:rPr>
              <a:t>2</a:t>
            </a:r>
            <a:r>
              <a:rPr lang="en-GB" sz="1000" b="1" dirty="0">
                <a:solidFill>
                  <a:srgbClr val="8F5B06"/>
                </a:solidFill>
                <a:latin typeface="Helvetica Neue"/>
              </a:rPr>
              <a:t>   High</a:t>
            </a:r>
          </a:p>
          <a:p>
            <a:pPr marL="0" indent="0">
              <a:spcAft>
                <a:spcPts val="0"/>
              </a:spcAft>
              <a:buNone/>
            </a:pPr>
            <a:r>
              <a:rPr lang="en-GB" sz="1050" b="0" dirty="0">
                <a:solidFill>
                  <a:srgbClr val="4A4F58"/>
                </a:solidFill>
                <a:latin typeface="Helvetica Neue"/>
              </a:rPr>
              <a:t>metrics moving the wrong way</a:t>
            </a:r>
          </a:p>
        </p:txBody>
      </p:sp>
      <p:sp>
        <p:nvSpPr>
          <p:cNvPr id="18" name="Figure 13 panel"/>
          <p:cNvSpPr/>
          <p:nvPr/>
        </p:nvSpPr>
        <p:spPr>
          <a:xfrm>
            <a:off x="685800" y="3794760"/>
            <a:ext cx="5327751" cy="914400"/>
          </a:xfrm>
          <a:prstGeom prst="rect">
            <a:avLst/>
          </a:prstGeom>
          <a:solidFill>
            <a:srgbClr val="F6F4EE"/>
          </a:solidFill>
          <a:ln>
            <a:noFill/>
          </a:ln>
        </p:spPr>
        <p:txBody>
          <a:bodyPr/>
          <a:lstStyle/>
          <a:p/>
        </p:txBody>
      </p:sp>
      <p:sp>
        <p:nvSpPr>
          <p:cNvPr id="19" name="Figure 13"/>
          <p:cNvSpPr txBox="1"/>
          <p:nvPr/>
        </p:nvSpPr>
        <p:spPr>
          <a:xfrm>
            <a:off x="868680" y="3941064"/>
            <a:ext cx="4961991" cy="658368"/>
          </a:xfrm>
          <a:prstGeom prst="rect">
            <a:avLst/>
          </a:prstGeom>
          <a:noFill/>
        </p:spPr>
        <p:txBody>
          <a:bodyPr wrap="square" lIns="0" tIns="0" rIns="0" bIns="0">
            <a:normAutofit/>
          </a:bodyPr>
          <a:lstStyle/>
          <a:p>
            <a:pPr marL="0" indent="0">
              <a:spcAft>
                <a:spcPts val="160"/>
              </a:spcAft>
              <a:buNone/>
            </a:pPr>
            <a:r>
              <a:rPr lang="en-GB" sz="1800" b="1" dirty="0">
                <a:solidFill>
                  <a:srgbClr val="14171C"/>
                </a:solidFill>
                <a:latin typeface="Helvetica Neue"/>
              </a:rPr>
              <a:t>6</a:t>
            </a:r>
          </a:p>
          <a:p>
            <a:pPr marL="0" indent="0">
              <a:spcAft>
                <a:spcPts val="0"/>
              </a:spcAft>
              <a:buNone/>
            </a:pPr>
            <a:r>
              <a:rPr lang="en-GB" sz="1050" b="0" dirty="0">
                <a:solidFill>
                  <a:srgbClr val="4A4F58"/>
                </a:solidFill>
                <a:latin typeface="Helvetica Neue"/>
              </a:rPr>
              <a:t>metrics tracked</a:t>
            </a:r>
          </a:p>
        </p:txBody>
      </p:sp>
      <p:sp>
        <p:nvSpPr>
          <p:cNvPr id="20" name="Figure 14 panel"/>
          <p:cNvSpPr/>
          <p:nvPr/>
        </p:nvSpPr>
        <p:spPr>
          <a:xfrm>
            <a:off x="6178143" y="3794760"/>
            <a:ext cx="5327751" cy="914400"/>
          </a:xfrm>
          <a:prstGeom prst="rect">
            <a:avLst/>
          </a:prstGeom>
          <a:solidFill>
            <a:srgbClr val="F6F4EE"/>
          </a:solidFill>
          <a:ln>
            <a:noFill/>
          </a:ln>
        </p:spPr>
        <p:txBody>
          <a:bodyPr/>
          <a:lstStyle/>
          <a:p/>
        </p:txBody>
      </p:sp>
      <p:sp>
        <p:nvSpPr>
          <p:cNvPr id="21" name="Figure 14"/>
          <p:cNvSpPr txBox="1"/>
          <p:nvPr/>
        </p:nvSpPr>
        <p:spPr>
          <a:xfrm>
            <a:off x="6361023" y="3941064"/>
            <a:ext cx="4961991" cy="658368"/>
          </a:xfrm>
          <a:prstGeom prst="rect">
            <a:avLst/>
          </a:prstGeom>
          <a:noFill/>
        </p:spPr>
        <p:txBody>
          <a:bodyPr wrap="square" lIns="0" tIns="0" rIns="0" bIns="0">
            <a:normAutofit/>
          </a:bodyPr>
          <a:lstStyle/>
          <a:p>
            <a:pPr marL="0" indent="0">
              <a:spcAft>
                <a:spcPts val="160"/>
              </a:spcAft>
              <a:buNone/>
            </a:pPr>
            <a:r>
              <a:rPr lang="en-GB" sz="1800" b="1" dirty="0">
                <a:solidFill>
                  <a:srgbClr val="14171C"/>
                </a:solidFill>
                <a:latin typeface="Helvetica Neue"/>
              </a:rPr>
              <a:t>4</a:t>
            </a:r>
          </a:p>
          <a:p>
            <a:pPr marL="0" indent="0">
              <a:spcAft>
                <a:spcPts val="0"/>
              </a:spcAft>
              <a:buNone/>
            </a:pPr>
            <a:r>
              <a:rPr lang="en-GB" sz="1050" b="0" dirty="0">
                <a:solidFill>
                  <a:srgbClr val="4A4F58"/>
                </a:solidFill>
                <a:latin typeface="Helvetica Neue"/>
              </a:rPr>
              <a:t>acceptances and exceptions carried</a:t>
            </a:r>
          </a:p>
        </p:txBody>
      </p:sp>
      <p:sp>
        <p:nvSpPr>
          <p:cNvPr id="22" name="Figure 15 panel"/>
          <p:cNvSpPr/>
          <p:nvPr/>
        </p:nvSpPr>
        <p:spPr>
          <a:xfrm>
            <a:off x="685800" y="4846320"/>
            <a:ext cx="5327751" cy="914400"/>
          </a:xfrm>
          <a:prstGeom prst="rect">
            <a:avLst/>
          </a:prstGeom>
          <a:solidFill>
            <a:srgbClr val="F6F4EE"/>
          </a:solidFill>
          <a:ln>
            <a:noFill/>
          </a:ln>
        </p:spPr>
        <p:txBody>
          <a:bodyPr/>
          <a:lstStyle/>
          <a:p/>
        </p:txBody>
      </p:sp>
      <p:sp>
        <p:nvSpPr>
          <p:cNvPr id="23" name="Figure 15 rule [critical]"/>
          <p:cNvSpPr/>
          <p:nvPr/>
        </p:nvSpPr>
        <p:spPr>
          <a:xfrm>
            <a:off x="685800" y="4846320"/>
            <a:ext cx="38100" cy="914400"/>
          </a:xfrm>
          <a:prstGeom prst="rect">
            <a:avLst/>
          </a:prstGeom>
          <a:solidFill>
            <a:srgbClr val="8B2119"/>
          </a:solidFill>
          <a:ln>
            <a:noFill/>
          </a:ln>
        </p:spPr>
        <p:txBody>
          <a:bodyPr/>
          <a:lstStyle/>
          <a:p/>
        </p:txBody>
      </p:sp>
      <p:sp>
        <p:nvSpPr>
          <p:cNvPr id="24" name="Figure 15 [critical]"/>
          <p:cNvSpPr txBox="1"/>
          <p:nvPr/>
        </p:nvSpPr>
        <p:spPr>
          <a:xfrm>
            <a:off x="868680" y="4992624"/>
            <a:ext cx="4961991" cy="658368"/>
          </a:xfrm>
          <a:prstGeom prst="rect">
            <a:avLst/>
          </a:prstGeom>
          <a:noFill/>
        </p:spPr>
        <p:txBody>
          <a:bodyPr wrap="square" lIns="0" tIns="0" rIns="0" bIns="0">
            <a:normAutofit/>
          </a:bodyPr>
          <a:lstStyle/>
          <a:p>
            <a:pPr marL="0" indent="0">
              <a:spcAft>
                <a:spcPts val="160"/>
              </a:spcAft>
              <a:buNone/>
            </a:pPr>
            <a:r>
              <a:rPr lang="en-GB" sz="1800" b="1" dirty="0">
                <a:solidFill>
                  <a:srgbClr val="8B2119"/>
                </a:solidFill>
                <a:latin typeface="Helvetica Neue"/>
              </a:rPr>
              <a:t>1</a:t>
            </a:r>
            <a:r>
              <a:rPr lang="en-GB" sz="1000" b="1" dirty="0">
                <a:solidFill>
                  <a:srgbClr val="8B2119"/>
                </a:solidFill>
                <a:latin typeface="Helvetica Neue"/>
              </a:rPr>
              <a:t>   Critical</a:t>
            </a:r>
          </a:p>
          <a:p>
            <a:pPr marL="0" indent="0">
              <a:spcAft>
                <a:spcPts val="0"/>
              </a:spcAft>
              <a:buNone/>
            </a:pPr>
            <a:r>
              <a:rPr lang="en-GB" sz="1050" b="0" dirty="0">
                <a:solidFill>
                  <a:srgbClr val="4A4F58"/>
                </a:solidFill>
                <a:latin typeface="Helvetica Neue"/>
              </a:rPr>
              <a:t>overdue for re-validation</a:t>
            </a:r>
          </a:p>
        </p:txBody>
      </p:sp>
      <p:sp>
        <p:nvSpPr>
          <p:cNvPr id="25" name="Figure 16 panel"/>
          <p:cNvSpPr/>
          <p:nvPr/>
        </p:nvSpPr>
        <p:spPr>
          <a:xfrm>
            <a:off x="6178143" y="4846320"/>
            <a:ext cx="5327751" cy="914400"/>
          </a:xfrm>
          <a:prstGeom prst="rect">
            <a:avLst/>
          </a:prstGeom>
          <a:solidFill>
            <a:srgbClr val="F6F4EE"/>
          </a:solidFill>
          <a:ln>
            <a:noFill/>
          </a:ln>
        </p:spPr>
        <p:txBody>
          <a:bodyPr/>
          <a:lstStyle/>
          <a:p/>
        </p:txBody>
      </p:sp>
      <p:sp>
        <p:nvSpPr>
          <p:cNvPr id="26" name="Figure 16"/>
          <p:cNvSpPr txBox="1"/>
          <p:nvPr/>
        </p:nvSpPr>
        <p:spPr>
          <a:xfrm>
            <a:off x="6361023" y="4992624"/>
            <a:ext cx="4961991" cy="658368"/>
          </a:xfrm>
          <a:prstGeom prst="rect">
            <a:avLst/>
          </a:prstGeom>
          <a:noFill/>
        </p:spPr>
        <p:txBody>
          <a:bodyPr wrap="square" lIns="0" tIns="0" rIns="0" bIns="0">
            <a:normAutofit/>
          </a:bodyPr>
          <a:lstStyle/>
          <a:p>
            <a:pPr marL="0" indent="0">
              <a:spcAft>
                <a:spcPts val="160"/>
              </a:spcAft>
              <a:buNone/>
            </a:pPr>
            <a:r>
              <a:rPr lang="en-GB" sz="1800" b="1" dirty="0">
                <a:solidFill>
                  <a:srgbClr val="14171C"/>
                </a:solidFill>
                <a:latin typeface="Helvetica Neue"/>
              </a:rPr>
              <a:t>4</a:t>
            </a:r>
          </a:p>
          <a:p>
            <a:pPr marL="0" indent="0">
              <a:spcAft>
                <a:spcPts val="0"/>
              </a:spcAft>
              <a:buNone/>
            </a:pPr>
            <a:r>
              <a:rPr lang="en-GB" sz="1050" b="0" dirty="0">
                <a:solidFill>
                  <a:srgbClr val="4A4F58"/>
                </a:solidFill>
                <a:latin typeface="Helvetica Neue"/>
              </a:rPr>
              <a:t>incidents in the period</a:t>
            </a:r>
          </a:p>
        </p:txBody>
      </p:sp>
      <p:sp>
        <p:nvSpPr>
          <p:cNvPr id="27" name="Figures note"/>
          <p:cNvSpPr txBox="1"/>
          <p:nvPr/>
        </p:nvSpPr>
        <p:spPr>
          <a:xfrm>
            <a:off x="685800" y="5870448"/>
            <a:ext cx="10820095" cy="292608"/>
          </a:xfrm>
          <a:prstGeom prst="rect">
            <a:avLst/>
          </a:prstGeom>
          <a:noFill/>
        </p:spPr>
        <p:txBody>
          <a:bodyPr wrap="square" lIns="0" tIns="0" rIns="0" bIns="0">
            <a:normAutofit/>
          </a:bodyPr>
          <a:lstStyle/>
          <a:p>
            <a:pPr marL="0" indent="0">
              <a:spcAft>
                <a:spcPts val="0"/>
              </a:spcAft>
              <a:buNone/>
            </a:pPr>
            <a:r>
              <a:rPr lang="en-GB" sz="1000" b="0" dirty="0">
                <a:solidFill>
                  <a:srgbClr val="4A4F58"/>
                </a:solidFill>
                <a:latin typeface="Helvetica Neue"/>
              </a:rPr>
              <a:t>Every figure was computed by the skill that owns it and read here unchanged. The pack calculates nothing.</a:t>
            </a:r>
          </a:p>
        </p:txBody>
      </p:sp>
      <p:sp>
        <p:nvSpPr>
          <p:cNvPr id="28" name="Footer spark"/>
          <p:cNvSpPr/>
          <p:nvPr/>
        </p:nvSpPr>
        <p:spPr>
          <a:xfrm>
            <a:off x="685800" y="6304788"/>
            <a:ext cx="118872" cy="118872"/>
          </a:xfrm>
          <a:prstGeom prst="diamond">
            <a:avLst/>
          </a:prstGeom>
          <a:solidFill>
            <a:srgbClr val="2FA98C"/>
          </a:solidFill>
          <a:ln>
            <a:noFill/>
          </a:ln>
        </p:spPr>
        <p:txBody>
          <a:bodyPr/>
          <a:lstStyle/>
          <a:p/>
        </p:txBody>
      </p:sp>
      <p:sp>
        <p:nvSpPr>
          <p:cNvPr id="2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This quarter, in figures (3)</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Figure 17 panel"/>
          <p:cNvSpPr/>
          <p:nvPr/>
        </p:nvSpPr>
        <p:spPr>
          <a:xfrm>
            <a:off x="685800" y="1691640"/>
            <a:ext cx="5327751" cy="914400"/>
          </a:xfrm>
          <a:prstGeom prst="rect">
            <a:avLst/>
          </a:prstGeom>
          <a:solidFill>
            <a:srgbClr val="F6F4EE"/>
          </a:solidFill>
          <a:ln>
            <a:noFill/>
          </a:ln>
        </p:spPr>
        <p:txBody>
          <a:bodyPr/>
          <a:lstStyle/>
          <a:p/>
        </p:txBody>
      </p:sp>
      <p:sp>
        <p:nvSpPr>
          <p:cNvPr id="8" name="Figure 17 rule [high]"/>
          <p:cNvSpPr/>
          <p:nvPr/>
        </p:nvSpPr>
        <p:spPr>
          <a:xfrm>
            <a:off x="685800" y="1691640"/>
            <a:ext cx="38100" cy="914400"/>
          </a:xfrm>
          <a:prstGeom prst="rect">
            <a:avLst/>
          </a:prstGeom>
          <a:solidFill>
            <a:srgbClr val="8F5B06"/>
          </a:solidFill>
          <a:ln>
            <a:noFill/>
          </a:ln>
        </p:spPr>
        <p:txBody>
          <a:bodyPr/>
          <a:lstStyle/>
          <a:p/>
        </p:txBody>
      </p:sp>
      <p:sp>
        <p:nvSpPr>
          <p:cNvPr id="9" name="Figure 17 [high]"/>
          <p:cNvSpPr txBox="1"/>
          <p:nvPr/>
        </p:nvSpPr>
        <p:spPr>
          <a:xfrm>
            <a:off x="868680" y="1837944"/>
            <a:ext cx="4961991" cy="658368"/>
          </a:xfrm>
          <a:prstGeom prst="rect">
            <a:avLst/>
          </a:prstGeom>
          <a:noFill/>
        </p:spPr>
        <p:txBody>
          <a:bodyPr wrap="square" lIns="0" tIns="0" rIns="0" bIns="0">
            <a:normAutofit/>
          </a:bodyPr>
          <a:lstStyle/>
          <a:p>
            <a:pPr marL="0" indent="0">
              <a:spcAft>
                <a:spcPts val="160"/>
              </a:spcAft>
              <a:buNone/>
            </a:pPr>
            <a:r>
              <a:rPr lang="en-GB" sz="1800" b="1" dirty="0">
                <a:solidFill>
                  <a:srgbClr val="8F5B06"/>
                </a:solidFill>
                <a:latin typeface="Helvetica Neue"/>
              </a:rPr>
              <a:t>1</a:t>
            </a:r>
            <a:r>
              <a:rPr lang="en-GB" sz="1000" b="1" dirty="0">
                <a:solidFill>
                  <a:srgbClr val="8F5B06"/>
                </a:solidFill>
                <a:latin typeface="Helvetica Neue"/>
              </a:rPr>
              <a:t>   High</a:t>
            </a:r>
          </a:p>
          <a:p>
            <a:pPr marL="0" indent="0">
              <a:spcAft>
                <a:spcPts val="0"/>
              </a:spcAft>
              <a:buNone/>
            </a:pPr>
            <a:r>
              <a:rPr lang="en-GB" sz="1050" b="0" dirty="0">
                <a:solidFill>
                  <a:srgbClr val="4A4F58"/>
                </a:solidFill>
                <a:latin typeface="Helvetica Neue"/>
              </a:rPr>
              <a:t>reporting windows open</a:t>
            </a:r>
          </a:p>
        </p:txBody>
      </p:sp>
      <p:sp>
        <p:nvSpPr>
          <p:cNvPr id="10" name="Figures note"/>
          <p:cNvSpPr txBox="1"/>
          <p:nvPr/>
        </p:nvSpPr>
        <p:spPr>
          <a:xfrm>
            <a:off x="685800" y="5870448"/>
            <a:ext cx="10820095" cy="292608"/>
          </a:xfrm>
          <a:prstGeom prst="rect">
            <a:avLst/>
          </a:prstGeom>
          <a:noFill/>
        </p:spPr>
        <p:txBody>
          <a:bodyPr wrap="square" lIns="0" tIns="0" rIns="0" bIns="0">
            <a:normAutofit/>
          </a:bodyPr>
          <a:lstStyle/>
          <a:p>
            <a:pPr marL="0" indent="0">
              <a:spcAft>
                <a:spcPts val="0"/>
              </a:spcAft>
              <a:buNone/>
            </a:pPr>
            <a:r>
              <a:rPr lang="en-GB" sz="1000" b="0" dirty="0">
                <a:solidFill>
                  <a:srgbClr val="4A4F58"/>
                </a:solidFill>
                <a:latin typeface="Helvetica Neue"/>
              </a:rPr>
              <a:t>Every figure was computed by the skill that owns it and read here unchanged. The pack calculates nothing.</a:t>
            </a:r>
          </a:p>
        </p:txBody>
      </p:sp>
      <p:sp>
        <p:nvSpPr>
          <p:cNvPr id="11" name="Footer spark"/>
          <p:cNvSpPr/>
          <p:nvPr/>
        </p:nvSpPr>
        <p:spPr>
          <a:xfrm>
            <a:off x="685800" y="6304788"/>
            <a:ext cx="118872" cy="118872"/>
          </a:xfrm>
          <a:prstGeom prst="diamond">
            <a:avLst/>
          </a:prstGeom>
          <a:solidFill>
            <a:srgbClr val="2FA98C"/>
          </a:solidFill>
          <a:ln>
            <a:noFill/>
          </a:ln>
        </p:spPr>
        <p:txBody>
          <a:bodyPr/>
          <a:lstStyle/>
          <a:p/>
        </p:txBody>
      </p:sp>
      <p:sp>
        <p:nvSpPr>
          <p:cNvPr id="12"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How the totals break down</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Mix title 7"/>
          <p:cNvSpPr txBox="1"/>
          <p:nvPr/>
        </p:nvSpPr>
        <p:spPr>
          <a:xfrm>
            <a:off x="685800" y="1691640"/>
            <a:ext cx="10820095" cy="256032"/>
          </a:xfrm>
          <a:prstGeom prst="rect">
            <a:avLst/>
          </a:prstGeom>
          <a:noFill/>
        </p:spPr>
        <p:txBody>
          <a:bodyPr wrap="square" lIns="0" tIns="0" rIns="0" bIns="0">
            <a:normAutofit/>
          </a:bodyPr>
          <a:lstStyle/>
          <a:p>
            <a:pPr marL="0" indent="0">
              <a:spcAft>
                <a:spcPts val="0"/>
              </a:spcAft>
              <a:buNone/>
            </a:pPr>
            <a:r>
              <a:rPr lang="en-GB" sz="1200" b="1" dirty="0">
                <a:solidFill>
                  <a:srgbClr val="14171C"/>
                </a:solidFill>
                <a:latin typeface="Helvetica Neue"/>
              </a:rPr>
              <a:t>Open risks by residual band</a:t>
            </a:r>
          </a:p>
        </p:txBody>
      </p:sp>
      <p:sp>
        <p:nvSpPr>
          <p:cNvPr id="8" name="Segment Low [good]"/>
          <p:cNvSpPr/>
          <p:nvPr/>
        </p:nvSpPr>
        <p:spPr>
          <a:xfrm>
            <a:off x="685800" y="2002536"/>
            <a:ext cx="1967290" cy="384048"/>
          </a:xfrm>
          <a:prstGeom prst="rect">
            <a:avLst/>
          </a:prstGeom>
          <a:solidFill>
            <a:srgbClr val="86BE9C"/>
          </a:solidFill>
          <a:ln>
            <a:noFill/>
          </a:ln>
        </p:spPr>
        <p:txBody>
          <a:bodyPr/>
          <a:lstStyle/>
          <a:p/>
        </p:txBody>
      </p:sp>
      <p:sp>
        <p:nvSpPr>
          <p:cNvPr id="9" name="Segment value 9"/>
          <p:cNvSpPr txBox="1"/>
          <p:nvPr/>
        </p:nvSpPr>
        <p:spPr>
          <a:xfrm>
            <a:off x="685800" y="2075688"/>
            <a:ext cx="1967290" cy="237744"/>
          </a:xfrm>
          <a:prstGeom prst="rect">
            <a:avLst/>
          </a:prstGeom>
          <a:noFill/>
        </p:spPr>
        <p:txBody>
          <a:bodyPr wrap="square" lIns="0" tIns="0" rIns="0" bIns="0">
            <a:normAutofit/>
          </a:bodyPr>
          <a:lstStyle/>
          <a:p>
            <a:pPr marL="0" indent="0">
              <a:spcAft>
                <a:spcPts val="1"/>
              </a:spcAft>
              <a:buNone/>
            </a:pPr>
            <a:r>
              <a:rPr lang="en-GB" sz="1100" b="1" dirty="0">
                <a:solidFill>
                  <a:srgbClr val="14171C"/>
                </a:solidFill>
                <a:latin typeface="Helvetica Neue"/>
              </a:rPr>
              <a:t>2</a:t>
            </a:r>
          </a:p>
        </p:txBody>
      </p:sp>
      <p:sp>
        <p:nvSpPr>
          <p:cNvPr id="10" name="Segment label 10"/>
          <p:cNvSpPr txBox="1"/>
          <p:nvPr/>
        </p:nvSpPr>
        <p:spPr>
          <a:xfrm>
            <a:off x="685800" y="2414016"/>
            <a:ext cx="1967290" cy="219456"/>
          </a:xfrm>
          <a:prstGeom prst="rect">
            <a:avLst/>
          </a:prstGeom>
          <a:noFill/>
        </p:spPr>
        <p:txBody>
          <a:bodyPr wrap="square" lIns="0" tIns="0" rIns="0" bIns="0">
            <a:normAutofit/>
          </a:bodyPr>
          <a:lstStyle/>
          <a:p>
            <a:pPr marL="0" indent="0">
              <a:spcAft>
                <a:spcPts val="1"/>
              </a:spcAft>
              <a:buNone/>
            </a:pPr>
            <a:r>
              <a:rPr lang="en-GB" sz="900" b="0" dirty="0">
                <a:solidFill>
                  <a:srgbClr val="4A4F58"/>
                </a:solidFill>
                <a:latin typeface="Helvetica Neue"/>
              </a:rPr>
              <a:t>Low</a:t>
            </a:r>
          </a:p>
        </p:txBody>
      </p:sp>
      <p:sp>
        <p:nvSpPr>
          <p:cNvPr id="11" name="Segment Medium [medium]"/>
          <p:cNvSpPr/>
          <p:nvPr/>
        </p:nvSpPr>
        <p:spPr>
          <a:xfrm>
            <a:off x="2653090" y="2002536"/>
            <a:ext cx="6885515" cy="384048"/>
          </a:xfrm>
          <a:prstGeom prst="rect">
            <a:avLst/>
          </a:prstGeom>
          <a:solidFill>
            <a:srgbClr val="F0DC92"/>
          </a:solidFill>
          <a:ln>
            <a:noFill/>
          </a:ln>
        </p:spPr>
        <p:txBody>
          <a:bodyPr/>
          <a:lstStyle/>
          <a:p/>
        </p:txBody>
      </p:sp>
      <p:sp>
        <p:nvSpPr>
          <p:cNvPr id="12" name="Segment value 12"/>
          <p:cNvSpPr txBox="1"/>
          <p:nvPr/>
        </p:nvSpPr>
        <p:spPr>
          <a:xfrm>
            <a:off x="2653090" y="2075688"/>
            <a:ext cx="6885515" cy="237744"/>
          </a:xfrm>
          <a:prstGeom prst="rect">
            <a:avLst/>
          </a:prstGeom>
          <a:noFill/>
        </p:spPr>
        <p:txBody>
          <a:bodyPr wrap="square" lIns="0" tIns="0" rIns="0" bIns="0">
            <a:normAutofit/>
          </a:bodyPr>
          <a:lstStyle/>
          <a:p>
            <a:pPr marL="0" indent="0">
              <a:spcAft>
                <a:spcPts val="1"/>
              </a:spcAft>
              <a:buNone/>
            </a:pPr>
            <a:r>
              <a:rPr lang="en-GB" sz="1100" b="1" dirty="0">
                <a:solidFill>
                  <a:srgbClr val="14171C"/>
                </a:solidFill>
                <a:latin typeface="Helvetica Neue"/>
              </a:rPr>
              <a:t>7</a:t>
            </a:r>
          </a:p>
        </p:txBody>
      </p:sp>
      <p:sp>
        <p:nvSpPr>
          <p:cNvPr id="13" name="Segment label 13"/>
          <p:cNvSpPr txBox="1"/>
          <p:nvPr/>
        </p:nvSpPr>
        <p:spPr>
          <a:xfrm>
            <a:off x="2653090" y="2414016"/>
            <a:ext cx="6885515" cy="219456"/>
          </a:xfrm>
          <a:prstGeom prst="rect">
            <a:avLst/>
          </a:prstGeom>
          <a:noFill/>
        </p:spPr>
        <p:txBody>
          <a:bodyPr wrap="square" lIns="0" tIns="0" rIns="0" bIns="0">
            <a:normAutofit/>
          </a:bodyPr>
          <a:lstStyle/>
          <a:p>
            <a:pPr marL="0" indent="0">
              <a:spcAft>
                <a:spcPts val="1"/>
              </a:spcAft>
              <a:buNone/>
            </a:pPr>
            <a:r>
              <a:rPr lang="en-GB" sz="900" b="0" dirty="0">
                <a:solidFill>
                  <a:srgbClr val="4A4F58"/>
                </a:solidFill>
                <a:latin typeface="Helvetica Neue"/>
              </a:rPr>
              <a:t>Medium</a:t>
            </a:r>
          </a:p>
        </p:txBody>
      </p:sp>
      <p:sp>
        <p:nvSpPr>
          <p:cNvPr id="14" name="Segment Critical [critical]"/>
          <p:cNvSpPr/>
          <p:nvPr/>
        </p:nvSpPr>
        <p:spPr>
          <a:xfrm>
            <a:off x="9538605" y="2002536"/>
            <a:ext cx="1967290" cy="384048"/>
          </a:xfrm>
          <a:prstGeom prst="rect">
            <a:avLst/>
          </a:prstGeom>
          <a:solidFill>
            <a:srgbClr val="DFA096"/>
          </a:solidFill>
          <a:ln>
            <a:noFill/>
          </a:ln>
        </p:spPr>
        <p:txBody>
          <a:bodyPr/>
          <a:lstStyle/>
          <a:p/>
        </p:txBody>
      </p:sp>
      <p:sp>
        <p:nvSpPr>
          <p:cNvPr id="15" name="Segment value 15"/>
          <p:cNvSpPr txBox="1"/>
          <p:nvPr/>
        </p:nvSpPr>
        <p:spPr>
          <a:xfrm>
            <a:off x="9538605" y="2075688"/>
            <a:ext cx="1967290" cy="237744"/>
          </a:xfrm>
          <a:prstGeom prst="rect">
            <a:avLst/>
          </a:prstGeom>
          <a:noFill/>
        </p:spPr>
        <p:txBody>
          <a:bodyPr wrap="square" lIns="0" tIns="0" rIns="0" bIns="0">
            <a:normAutofit/>
          </a:bodyPr>
          <a:lstStyle/>
          <a:p>
            <a:pPr marL="0" indent="0">
              <a:spcAft>
                <a:spcPts val="1"/>
              </a:spcAft>
              <a:buNone/>
            </a:pPr>
            <a:r>
              <a:rPr lang="en-GB" sz="1100" b="1" dirty="0">
                <a:solidFill>
                  <a:srgbClr val="14171C"/>
                </a:solidFill>
                <a:latin typeface="Helvetica Neue"/>
              </a:rPr>
              <a:t>2</a:t>
            </a:r>
          </a:p>
        </p:txBody>
      </p:sp>
      <p:sp>
        <p:nvSpPr>
          <p:cNvPr id="16" name="Segment label 16"/>
          <p:cNvSpPr txBox="1"/>
          <p:nvPr/>
        </p:nvSpPr>
        <p:spPr>
          <a:xfrm>
            <a:off x="9538605" y="2414016"/>
            <a:ext cx="1967290" cy="219456"/>
          </a:xfrm>
          <a:prstGeom prst="rect">
            <a:avLst/>
          </a:prstGeom>
          <a:noFill/>
        </p:spPr>
        <p:txBody>
          <a:bodyPr wrap="square" lIns="0" tIns="0" rIns="0" bIns="0">
            <a:normAutofit/>
          </a:bodyPr>
          <a:lstStyle/>
          <a:p>
            <a:pPr marL="0" indent="0">
              <a:spcAft>
                <a:spcPts val="1"/>
              </a:spcAft>
              <a:buNone/>
            </a:pPr>
            <a:r>
              <a:rPr lang="en-GB" sz="900" b="0" dirty="0">
                <a:solidFill>
                  <a:srgbClr val="4A4F58"/>
                </a:solidFill>
                <a:latin typeface="Helvetica Neue"/>
              </a:rPr>
              <a:t>Critical</a:t>
            </a:r>
          </a:p>
        </p:txBody>
      </p:sp>
      <p:sp>
        <p:nvSpPr>
          <p:cNvPr id="17" name="Mix title 17"/>
          <p:cNvSpPr txBox="1"/>
          <p:nvPr/>
        </p:nvSpPr>
        <p:spPr>
          <a:xfrm>
            <a:off x="685800" y="3026664"/>
            <a:ext cx="10820095" cy="256032"/>
          </a:xfrm>
          <a:prstGeom prst="rect">
            <a:avLst/>
          </a:prstGeom>
          <a:noFill/>
        </p:spPr>
        <p:txBody>
          <a:bodyPr wrap="square" lIns="0" tIns="0" rIns="0" bIns="0">
            <a:normAutofit/>
          </a:bodyPr>
          <a:lstStyle/>
          <a:p>
            <a:pPr marL="0" indent="0">
              <a:spcAft>
                <a:spcPts val="0"/>
              </a:spcAft>
              <a:buNone/>
            </a:pPr>
            <a:r>
              <a:rPr lang="en-GB" sz="1200" b="1" dirty="0">
                <a:solidFill>
                  <a:srgbClr val="14171C"/>
                </a:solidFill>
                <a:latin typeface="Helvetica Neue"/>
              </a:rPr>
              <a:t>Active acceptances and exceptions by band</a:t>
            </a:r>
          </a:p>
        </p:txBody>
      </p:sp>
      <p:sp>
        <p:nvSpPr>
          <p:cNvPr id="18" name="Segment Current [good]"/>
          <p:cNvSpPr/>
          <p:nvPr/>
        </p:nvSpPr>
        <p:spPr>
          <a:xfrm>
            <a:off x="685800" y="3337560"/>
            <a:ext cx="5410047" cy="384048"/>
          </a:xfrm>
          <a:prstGeom prst="rect">
            <a:avLst/>
          </a:prstGeom>
          <a:solidFill>
            <a:srgbClr val="86BE9C"/>
          </a:solidFill>
          <a:ln>
            <a:noFill/>
          </a:ln>
        </p:spPr>
        <p:txBody>
          <a:bodyPr/>
          <a:lstStyle/>
          <a:p/>
        </p:txBody>
      </p:sp>
      <p:sp>
        <p:nvSpPr>
          <p:cNvPr id="19" name="Segment value 19"/>
          <p:cNvSpPr txBox="1"/>
          <p:nvPr/>
        </p:nvSpPr>
        <p:spPr>
          <a:xfrm>
            <a:off x="685800" y="3410712"/>
            <a:ext cx="5410047" cy="237744"/>
          </a:xfrm>
          <a:prstGeom prst="rect">
            <a:avLst/>
          </a:prstGeom>
          <a:noFill/>
        </p:spPr>
        <p:txBody>
          <a:bodyPr wrap="square" lIns="0" tIns="0" rIns="0" bIns="0">
            <a:normAutofit/>
          </a:bodyPr>
          <a:lstStyle/>
          <a:p>
            <a:pPr marL="0" indent="0">
              <a:spcAft>
                <a:spcPts val="1"/>
              </a:spcAft>
              <a:buNone/>
            </a:pPr>
            <a:r>
              <a:rPr lang="en-GB" sz="1100" b="1" dirty="0">
                <a:solidFill>
                  <a:srgbClr val="14171C"/>
                </a:solidFill>
                <a:latin typeface="Helvetica Neue"/>
              </a:rPr>
              <a:t>2</a:t>
            </a:r>
          </a:p>
        </p:txBody>
      </p:sp>
      <p:sp>
        <p:nvSpPr>
          <p:cNvPr id="20" name="Segment label 20"/>
          <p:cNvSpPr txBox="1"/>
          <p:nvPr/>
        </p:nvSpPr>
        <p:spPr>
          <a:xfrm>
            <a:off x="685800" y="3749040"/>
            <a:ext cx="5410047" cy="219456"/>
          </a:xfrm>
          <a:prstGeom prst="rect">
            <a:avLst/>
          </a:prstGeom>
          <a:noFill/>
        </p:spPr>
        <p:txBody>
          <a:bodyPr wrap="square" lIns="0" tIns="0" rIns="0" bIns="0">
            <a:normAutofit/>
          </a:bodyPr>
          <a:lstStyle/>
          <a:p>
            <a:pPr marL="0" indent="0">
              <a:spcAft>
                <a:spcPts val="1"/>
              </a:spcAft>
              <a:buNone/>
            </a:pPr>
            <a:r>
              <a:rPr lang="en-GB" sz="900" b="0" dirty="0">
                <a:solidFill>
                  <a:srgbClr val="4A4F58"/>
                </a:solidFill>
                <a:latin typeface="Helvetica Neue"/>
              </a:rPr>
              <a:t>Current</a:t>
            </a:r>
          </a:p>
        </p:txBody>
      </p:sp>
      <p:sp>
        <p:nvSpPr>
          <p:cNvPr id="21" name="Segment Re-validation due [high]"/>
          <p:cNvSpPr/>
          <p:nvPr/>
        </p:nvSpPr>
        <p:spPr>
          <a:xfrm>
            <a:off x="6095847" y="3337560"/>
            <a:ext cx="2705023" cy="384048"/>
          </a:xfrm>
          <a:prstGeom prst="rect">
            <a:avLst/>
          </a:prstGeom>
          <a:solidFill>
            <a:srgbClr val="EEC17E"/>
          </a:solidFill>
          <a:ln>
            <a:noFill/>
          </a:ln>
        </p:spPr>
        <p:txBody>
          <a:bodyPr/>
          <a:lstStyle/>
          <a:p/>
        </p:txBody>
      </p:sp>
      <p:sp>
        <p:nvSpPr>
          <p:cNvPr id="22" name="Segment value 22"/>
          <p:cNvSpPr txBox="1"/>
          <p:nvPr/>
        </p:nvSpPr>
        <p:spPr>
          <a:xfrm>
            <a:off x="6095847" y="3410712"/>
            <a:ext cx="2705023" cy="237744"/>
          </a:xfrm>
          <a:prstGeom prst="rect">
            <a:avLst/>
          </a:prstGeom>
          <a:noFill/>
        </p:spPr>
        <p:txBody>
          <a:bodyPr wrap="square" lIns="0" tIns="0" rIns="0" bIns="0">
            <a:normAutofit/>
          </a:bodyPr>
          <a:lstStyle/>
          <a:p>
            <a:pPr marL="0" indent="0">
              <a:spcAft>
                <a:spcPts val="1"/>
              </a:spcAft>
              <a:buNone/>
            </a:pPr>
            <a:r>
              <a:rPr lang="en-GB" sz="1100" b="1" dirty="0">
                <a:solidFill>
                  <a:srgbClr val="14171C"/>
                </a:solidFill>
                <a:latin typeface="Helvetica Neue"/>
              </a:rPr>
              <a:t>1</a:t>
            </a:r>
          </a:p>
        </p:txBody>
      </p:sp>
      <p:sp>
        <p:nvSpPr>
          <p:cNvPr id="23" name="Segment label 23"/>
          <p:cNvSpPr txBox="1"/>
          <p:nvPr/>
        </p:nvSpPr>
        <p:spPr>
          <a:xfrm>
            <a:off x="6095847" y="3749040"/>
            <a:ext cx="2705023" cy="219456"/>
          </a:xfrm>
          <a:prstGeom prst="rect">
            <a:avLst/>
          </a:prstGeom>
          <a:noFill/>
        </p:spPr>
        <p:txBody>
          <a:bodyPr wrap="square" lIns="0" tIns="0" rIns="0" bIns="0">
            <a:normAutofit/>
          </a:bodyPr>
          <a:lstStyle/>
          <a:p>
            <a:pPr marL="0" indent="0">
              <a:spcAft>
                <a:spcPts val="1"/>
              </a:spcAft>
              <a:buNone/>
            </a:pPr>
            <a:r>
              <a:rPr lang="en-GB" sz="900" b="0" dirty="0">
                <a:solidFill>
                  <a:srgbClr val="4A4F58"/>
                </a:solidFill>
                <a:latin typeface="Helvetica Neue"/>
              </a:rPr>
              <a:t>Re-validation due</a:t>
            </a:r>
          </a:p>
        </p:txBody>
      </p:sp>
      <p:sp>
        <p:nvSpPr>
          <p:cNvPr id="24" name="Segment Re-validation overdue [critical]"/>
          <p:cNvSpPr/>
          <p:nvPr/>
        </p:nvSpPr>
        <p:spPr>
          <a:xfrm>
            <a:off x="8800870" y="3337560"/>
            <a:ext cx="2705025" cy="384048"/>
          </a:xfrm>
          <a:prstGeom prst="rect">
            <a:avLst/>
          </a:prstGeom>
          <a:solidFill>
            <a:srgbClr val="DFA096"/>
          </a:solidFill>
          <a:ln>
            <a:noFill/>
          </a:ln>
        </p:spPr>
        <p:txBody>
          <a:bodyPr/>
          <a:lstStyle/>
          <a:p/>
        </p:txBody>
      </p:sp>
      <p:sp>
        <p:nvSpPr>
          <p:cNvPr id="25" name="Segment value 25"/>
          <p:cNvSpPr txBox="1"/>
          <p:nvPr/>
        </p:nvSpPr>
        <p:spPr>
          <a:xfrm>
            <a:off x="8800870" y="3410712"/>
            <a:ext cx="2705025" cy="237744"/>
          </a:xfrm>
          <a:prstGeom prst="rect">
            <a:avLst/>
          </a:prstGeom>
          <a:noFill/>
        </p:spPr>
        <p:txBody>
          <a:bodyPr wrap="square" lIns="0" tIns="0" rIns="0" bIns="0">
            <a:normAutofit/>
          </a:bodyPr>
          <a:lstStyle/>
          <a:p>
            <a:pPr marL="0" indent="0">
              <a:spcAft>
                <a:spcPts val="1"/>
              </a:spcAft>
              <a:buNone/>
            </a:pPr>
            <a:r>
              <a:rPr lang="en-GB" sz="1100" b="1" dirty="0">
                <a:solidFill>
                  <a:srgbClr val="14171C"/>
                </a:solidFill>
                <a:latin typeface="Helvetica Neue"/>
              </a:rPr>
              <a:t>1</a:t>
            </a:r>
          </a:p>
        </p:txBody>
      </p:sp>
      <p:sp>
        <p:nvSpPr>
          <p:cNvPr id="26" name="Segment label 26"/>
          <p:cNvSpPr txBox="1"/>
          <p:nvPr/>
        </p:nvSpPr>
        <p:spPr>
          <a:xfrm>
            <a:off x="8800870" y="3749040"/>
            <a:ext cx="2705025" cy="219456"/>
          </a:xfrm>
          <a:prstGeom prst="rect">
            <a:avLst/>
          </a:prstGeom>
          <a:noFill/>
        </p:spPr>
        <p:txBody>
          <a:bodyPr wrap="square" lIns="0" tIns="0" rIns="0" bIns="0">
            <a:normAutofit/>
          </a:bodyPr>
          <a:lstStyle/>
          <a:p>
            <a:pPr marL="0" indent="0">
              <a:spcAft>
                <a:spcPts val="1"/>
              </a:spcAft>
              <a:buNone/>
            </a:pPr>
            <a:r>
              <a:rPr lang="en-GB" sz="900" b="0" dirty="0">
                <a:solidFill>
                  <a:srgbClr val="4A4F58"/>
                </a:solidFill>
                <a:latin typeface="Helvetica Neue"/>
              </a:rPr>
              <a:t>Re-validation overdue</a:t>
            </a:r>
          </a:p>
        </p:txBody>
      </p:sp>
      <p:sp>
        <p:nvSpPr>
          <p:cNvPr id="27" name="Mix note 27"/>
          <p:cNvSpPr txBox="1"/>
          <p:nvPr/>
        </p:nvSpPr>
        <p:spPr>
          <a:xfrm>
            <a:off x="685800" y="4197096"/>
            <a:ext cx="10820095" cy="237744"/>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Active records only. No closed records not shown.</a:t>
            </a:r>
          </a:p>
        </p:txBody>
      </p:sp>
      <p:sp>
        <p:nvSpPr>
          <p:cNvPr id="28" name="Mix title 28"/>
          <p:cNvSpPr txBox="1"/>
          <p:nvPr/>
        </p:nvSpPr>
        <p:spPr>
          <a:xfrm>
            <a:off x="685800" y="4636008"/>
            <a:ext cx="10820095" cy="256032"/>
          </a:xfrm>
          <a:prstGeom prst="rect">
            <a:avLst/>
          </a:prstGeom>
          <a:noFill/>
        </p:spPr>
        <p:txBody>
          <a:bodyPr wrap="square" lIns="0" tIns="0" rIns="0" bIns="0">
            <a:normAutofit/>
          </a:bodyPr>
          <a:lstStyle/>
          <a:p>
            <a:pPr marL="0" indent="0">
              <a:spcAft>
                <a:spcPts val="0"/>
              </a:spcAft>
              <a:buNone/>
            </a:pPr>
            <a:r>
              <a:rPr lang="en-GB" sz="1200" b="1" dirty="0">
                <a:solidFill>
                  <a:srgbClr val="14171C"/>
                </a:solidFill>
                <a:latin typeface="Helvetica Neue"/>
              </a:rPr>
              <a:t>Open incidents by band</a:t>
            </a:r>
          </a:p>
        </p:txBody>
      </p:sp>
      <p:sp>
        <p:nvSpPr>
          <p:cNvPr id="29" name="Segment Under assessment"/>
          <p:cNvSpPr/>
          <p:nvPr/>
        </p:nvSpPr>
        <p:spPr>
          <a:xfrm>
            <a:off x="685800" y="4946904"/>
            <a:ext cx="3606698" cy="384048"/>
          </a:xfrm>
          <a:prstGeom prst="rect">
            <a:avLst/>
          </a:prstGeom>
          <a:solidFill>
            <a:srgbClr val="D6D2C7"/>
          </a:solidFill>
          <a:ln>
            <a:noFill/>
          </a:ln>
        </p:spPr>
        <p:txBody>
          <a:bodyPr/>
          <a:lstStyle/>
          <a:p/>
        </p:txBody>
      </p:sp>
      <p:sp>
        <p:nvSpPr>
          <p:cNvPr id="30" name="Segment value 30"/>
          <p:cNvSpPr txBox="1"/>
          <p:nvPr/>
        </p:nvSpPr>
        <p:spPr>
          <a:xfrm>
            <a:off x="685800" y="5020056"/>
            <a:ext cx="3606698" cy="237744"/>
          </a:xfrm>
          <a:prstGeom prst="rect">
            <a:avLst/>
          </a:prstGeom>
          <a:noFill/>
        </p:spPr>
        <p:txBody>
          <a:bodyPr wrap="square" lIns="0" tIns="0" rIns="0" bIns="0">
            <a:normAutofit/>
          </a:bodyPr>
          <a:lstStyle/>
          <a:p>
            <a:pPr marL="0" indent="0">
              <a:spcAft>
                <a:spcPts val="1"/>
              </a:spcAft>
              <a:buNone/>
            </a:pPr>
            <a:r>
              <a:rPr lang="en-GB" sz="1100" b="1" dirty="0">
                <a:solidFill>
                  <a:srgbClr val="4A4F58"/>
                </a:solidFill>
                <a:latin typeface="Helvetica Neue"/>
              </a:rPr>
              <a:t>1</a:t>
            </a:r>
          </a:p>
        </p:txBody>
      </p:sp>
      <p:sp>
        <p:nvSpPr>
          <p:cNvPr id="31" name="Segment label 31"/>
          <p:cNvSpPr txBox="1"/>
          <p:nvPr/>
        </p:nvSpPr>
        <p:spPr>
          <a:xfrm>
            <a:off x="685800" y="5358384"/>
            <a:ext cx="3606698" cy="219456"/>
          </a:xfrm>
          <a:prstGeom prst="rect">
            <a:avLst/>
          </a:prstGeom>
          <a:noFill/>
        </p:spPr>
        <p:txBody>
          <a:bodyPr wrap="square" lIns="0" tIns="0" rIns="0" bIns="0">
            <a:normAutofit/>
          </a:bodyPr>
          <a:lstStyle/>
          <a:p>
            <a:pPr marL="0" indent="0">
              <a:spcAft>
                <a:spcPts val="1"/>
              </a:spcAft>
              <a:buNone/>
            </a:pPr>
            <a:r>
              <a:rPr lang="en-GB" sz="900" b="0" dirty="0">
                <a:solidFill>
                  <a:srgbClr val="4A4F58"/>
                </a:solidFill>
                <a:latin typeface="Helvetica Neue"/>
              </a:rPr>
              <a:t>Under assessment</a:t>
            </a:r>
          </a:p>
        </p:txBody>
      </p:sp>
      <p:sp>
        <p:nvSpPr>
          <p:cNvPr id="32" name="Segment Reporting window open [high]"/>
          <p:cNvSpPr/>
          <p:nvPr/>
        </p:nvSpPr>
        <p:spPr>
          <a:xfrm>
            <a:off x="4292498" y="4946904"/>
            <a:ext cx="3606698" cy="384048"/>
          </a:xfrm>
          <a:prstGeom prst="rect">
            <a:avLst/>
          </a:prstGeom>
          <a:solidFill>
            <a:srgbClr val="EEC17E"/>
          </a:solidFill>
          <a:ln>
            <a:noFill/>
          </a:ln>
        </p:spPr>
        <p:txBody>
          <a:bodyPr/>
          <a:lstStyle/>
          <a:p/>
        </p:txBody>
      </p:sp>
      <p:sp>
        <p:nvSpPr>
          <p:cNvPr id="33" name="Segment value 33"/>
          <p:cNvSpPr txBox="1"/>
          <p:nvPr/>
        </p:nvSpPr>
        <p:spPr>
          <a:xfrm>
            <a:off x="4292498" y="5020056"/>
            <a:ext cx="3606698" cy="237744"/>
          </a:xfrm>
          <a:prstGeom prst="rect">
            <a:avLst/>
          </a:prstGeom>
          <a:noFill/>
        </p:spPr>
        <p:txBody>
          <a:bodyPr wrap="square" lIns="0" tIns="0" rIns="0" bIns="0">
            <a:normAutofit/>
          </a:bodyPr>
          <a:lstStyle/>
          <a:p>
            <a:pPr marL="0" indent="0">
              <a:spcAft>
                <a:spcPts val="1"/>
              </a:spcAft>
              <a:buNone/>
            </a:pPr>
            <a:r>
              <a:rPr lang="en-GB" sz="1100" b="1" dirty="0">
                <a:solidFill>
                  <a:srgbClr val="14171C"/>
                </a:solidFill>
                <a:latin typeface="Helvetica Neue"/>
              </a:rPr>
              <a:t>1</a:t>
            </a:r>
          </a:p>
        </p:txBody>
      </p:sp>
      <p:sp>
        <p:nvSpPr>
          <p:cNvPr id="34" name="Segment label 34"/>
          <p:cNvSpPr txBox="1"/>
          <p:nvPr/>
        </p:nvSpPr>
        <p:spPr>
          <a:xfrm>
            <a:off x="4292498" y="5358384"/>
            <a:ext cx="3606698" cy="219456"/>
          </a:xfrm>
          <a:prstGeom prst="rect">
            <a:avLst/>
          </a:prstGeom>
          <a:noFill/>
        </p:spPr>
        <p:txBody>
          <a:bodyPr wrap="square" lIns="0" tIns="0" rIns="0" bIns="0">
            <a:normAutofit/>
          </a:bodyPr>
          <a:lstStyle/>
          <a:p>
            <a:pPr marL="0" indent="0">
              <a:spcAft>
                <a:spcPts val="1"/>
              </a:spcAft>
              <a:buNone/>
            </a:pPr>
            <a:r>
              <a:rPr lang="en-GB" sz="900" b="0" dirty="0">
                <a:solidFill>
                  <a:srgbClr val="4A4F58"/>
                </a:solidFill>
                <a:latin typeface="Helvetica Neue"/>
              </a:rPr>
              <a:t>Reporting window open</a:t>
            </a:r>
          </a:p>
        </p:txBody>
      </p:sp>
      <p:sp>
        <p:nvSpPr>
          <p:cNvPr id="35" name="Segment Reported [good]"/>
          <p:cNvSpPr/>
          <p:nvPr/>
        </p:nvSpPr>
        <p:spPr>
          <a:xfrm>
            <a:off x="7899196" y="4946904"/>
            <a:ext cx="3606699" cy="384048"/>
          </a:xfrm>
          <a:prstGeom prst="rect">
            <a:avLst/>
          </a:prstGeom>
          <a:solidFill>
            <a:srgbClr val="86BE9C"/>
          </a:solidFill>
          <a:ln>
            <a:noFill/>
          </a:ln>
        </p:spPr>
        <p:txBody>
          <a:bodyPr/>
          <a:lstStyle/>
          <a:p/>
        </p:txBody>
      </p:sp>
      <p:sp>
        <p:nvSpPr>
          <p:cNvPr id="36" name="Segment value 36"/>
          <p:cNvSpPr txBox="1"/>
          <p:nvPr/>
        </p:nvSpPr>
        <p:spPr>
          <a:xfrm>
            <a:off x="7899196" y="5020056"/>
            <a:ext cx="3606699" cy="237744"/>
          </a:xfrm>
          <a:prstGeom prst="rect">
            <a:avLst/>
          </a:prstGeom>
          <a:noFill/>
        </p:spPr>
        <p:txBody>
          <a:bodyPr wrap="square" lIns="0" tIns="0" rIns="0" bIns="0">
            <a:normAutofit/>
          </a:bodyPr>
          <a:lstStyle/>
          <a:p>
            <a:pPr marL="0" indent="0">
              <a:spcAft>
                <a:spcPts val="1"/>
              </a:spcAft>
              <a:buNone/>
            </a:pPr>
            <a:r>
              <a:rPr lang="en-GB" sz="1100" b="1" dirty="0">
                <a:solidFill>
                  <a:srgbClr val="14171C"/>
                </a:solidFill>
                <a:latin typeface="Helvetica Neue"/>
              </a:rPr>
              <a:t>1</a:t>
            </a:r>
          </a:p>
        </p:txBody>
      </p:sp>
      <p:sp>
        <p:nvSpPr>
          <p:cNvPr id="37" name="Segment label 37"/>
          <p:cNvSpPr txBox="1"/>
          <p:nvPr/>
        </p:nvSpPr>
        <p:spPr>
          <a:xfrm>
            <a:off x="7899196" y="5358384"/>
            <a:ext cx="3606699" cy="219456"/>
          </a:xfrm>
          <a:prstGeom prst="rect">
            <a:avLst/>
          </a:prstGeom>
          <a:noFill/>
        </p:spPr>
        <p:txBody>
          <a:bodyPr wrap="square" lIns="0" tIns="0" rIns="0" bIns="0">
            <a:normAutofit/>
          </a:bodyPr>
          <a:lstStyle/>
          <a:p>
            <a:pPr marL="0" indent="0">
              <a:spcAft>
                <a:spcPts val="1"/>
              </a:spcAft>
              <a:buNone/>
            </a:pPr>
            <a:r>
              <a:rPr lang="en-GB" sz="900" b="0" dirty="0">
                <a:solidFill>
                  <a:srgbClr val="4A4F58"/>
                </a:solidFill>
                <a:latin typeface="Helvetica Neue"/>
              </a:rPr>
              <a:t>Reported</a:t>
            </a:r>
          </a:p>
        </p:txBody>
      </p:sp>
      <p:sp>
        <p:nvSpPr>
          <p:cNvPr id="38" name="Mix note 38"/>
          <p:cNvSpPr txBox="1"/>
          <p:nvPr/>
        </p:nvSpPr>
        <p:spPr>
          <a:xfrm>
            <a:off x="685800" y="5806440"/>
            <a:ext cx="10820095" cy="237744"/>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Open incidents only; bands with none are not drawn. 1 closed incident not shown.</a:t>
            </a:r>
          </a:p>
        </p:txBody>
      </p:sp>
      <p:sp>
        <p:nvSpPr>
          <p:cNvPr id="39" name="Footer spark"/>
          <p:cNvSpPr/>
          <p:nvPr/>
        </p:nvSpPr>
        <p:spPr>
          <a:xfrm>
            <a:off x="685800" y="6304788"/>
            <a:ext cx="118872" cy="118872"/>
          </a:xfrm>
          <a:prstGeom prst="diamond">
            <a:avLst/>
          </a:prstGeom>
          <a:solidFill>
            <a:srgbClr val="2FA98C"/>
          </a:solidFill>
          <a:ln>
            <a:noFill/>
          </a:ln>
        </p:spPr>
        <p:txBody>
          <a:bodyPr/>
          <a:lstStyle/>
          <a:p/>
        </p:txBody>
      </p:sp>
      <p:sp>
        <p:nvSpPr>
          <p:cNvPr id="40"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What escalated (1)</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0" indent="0">
              <a:spcAft>
                <a:spcPts val="700"/>
              </a:spcAft>
              <a:buNone/>
            </a:pPr>
            <a:r>
              <a:rPr lang="en-GB" sz="1250" b="1" dirty="0">
                <a:solidFill>
                  <a:srgbClr val="8B2119"/>
                </a:solidFill>
                <a:latin typeface="Helvetica Neue"/>
              </a:rPr>
              <a:t>CRITICAL  R-007  ·  band-crossed</a:t>
            </a:r>
          </a:p>
          <a:p>
            <a:pPr marL="0" indent="0">
              <a:spcAft>
                <a:spcPts val="700"/>
              </a:spcAft>
              <a:buNone/>
            </a:pPr>
            <a:r>
              <a:rPr lang="en-GB" sz="1050" b="0" dirty="0">
                <a:solidFill>
                  <a:srgbClr val="4A4F58"/>
                </a:solidFill>
                <a:latin typeface="Helvetica Neue"/>
              </a:rPr>
              <a:t>residual band high -&gt; critical since the last snapshot (12 -&gt; 15; against Q3 2026 Board Review)</a:t>
            </a:r>
          </a:p>
          <a:p>
            <a:pPr marL="0" indent="0">
              <a:spcAft>
                <a:spcPts val="700"/>
              </a:spcAft>
              <a:buNone/>
            </a:pPr>
            <a:r>
              <a:rPr lang="en-GB" sz="1250" b="1" dirty="0">
                <a:solidFill>
                  <a:srgbClr val="8B2119"/>
                </a:solidFill>
                <a:latin typeface="Helvetica Neue"/>
              </a:rPr>
              <a:t>CRITICAL  M-006  ·  threshold-breached</a:t>
            </a:r>
          </a:p>
          <a:p>
            <a:pPr marL="0" indent="0">
              <a:spcAft>
                <a:spcPts val="700"/>
              </a:spcAft>
              <a:buNone/>
            </a:pPr>
            <a:r>
              <a:rPr lang="en-GB" sz="1050" b="0" dirty="0">
                <a:solidFill>
                  <a:srgbClr val="4A4F58"/>
                </a:solidFill>
                <a:latin typeface="Helvetica Neue"/>
              </a:rPr>
              <a:t>Backup restores tested is 40.0% against a critical limit of 50.0%, for 1 reading (50.0 -&gt; 40.0; against 2025-Q4)</a:t>
            </a:r>
          </a:p>
          <a:p>
            <a:pPr marL="0" indent="0">
              <a:spcAft>
                <a:spcPts val="700"/>
              </a:spcAft>
              <a:buNone/>
            </a:pPr>
            <a:r>
              <a:rPr lang="en-GB" sz="1250" b="1" dirty="0">
                <a:solidFill>
                  <a:srgbClr val="8F5B06"/>
                </a:solidFill>
                <a:latin typeface="Helvetica Neue"/>
              </a:rPr>
              <a:t>HIGH  R-003  ·  appetite-dwell</a:t>
            </a:r>
          </a:p>
          <a:p>
            <a:pPr marL="0" indent="0">
              <a:spcAft>
                <a:spcPts val="700"/>
              </a:spcAft>
              <a:buNone/>
            </a:pPr>
            <a:r>
              <a:rPr lang="en-GB" sz="1050" b="0" dirty="0">
                <a:solidFill>
                  <a:srgbClr val="4A4F58"/>
                </a:solidFill>
                <a:latin typeface="Helvetica Neue"/>
              </a:rPr>
              <a:t>over appetite continuously for 212 days, since 2025-12-31 (2025-12-31 -&gt; 2026-07-31; against Q3 2026 Board Review)</a:t>
            </a:r>
          </a:p>
          <a:p>
            <a:pPr marL="0" indent="0">
              <a:spcAft>
                <a:spcPts val="700"/>
              </a:spcAft>
              <a:buNone/>
            </a:pPr>
            <a:r>
              <a:rPr lang="en-GB" sz="1250" b="1" dirty="0">
                <a:solidFill>
                  <a:srgbClr val="8F5B06"/>
                </a:solidFill>
                <a:latin typeface="Helvetica Neue"/>
              </a:rPr>
              <a:t>HIGH  R-010  ·  acceptance-lapsed</a:t>
            </a:r>
          </a:p>
          <a:p>
            <a:pPr marL="0" indent="0">
              <a:spcAft>
                <a:spcPts val="700"/>
              </a:spcAft>
              <a:buNone/>
            </a:pPr>
            <a:r>
              <a:rPr lang="en-GB" sz="1050" b="0" dirty="0">
                <a:solidFill>
                  <a:srgbClr val="4A4F58"/>
                </a:solidFill>
                <a:latin typeface="Helvetica Neue"/>
              </a:rPr>
              <a:t>acceptance expired 2026-07-15 and is still on the register — not re-validated, not re-scored (2026-07-15 -&gt; 2026-07-31)</a:t>
            </a:r>
          </a:p>
          <a:p>
            <a:pPr marL="0" indent="0">
              <a:spcAft>
                <a:spcPts val="700"/>
              </a:spcAft>
              <a:buNone/>
            </a:pPr>
            <a:r>
              <a:rPr lang="en-GB" sz="1250" b="1" dirty="0">
                <a:solidFill>
                  <a:srgbClr val="8F5B06"/>
                </a:solidFill>
                <a:latin typeface="Helvetica Neue"/>
              </a:rPr>
              <a:t>HIGH  VA-001  ·  assessment-overdue</a:t>
            </a:r>
          </a:p>
          <a:p>
            <a:pPr marL="0" indent="0">
              <a:spcAft>
                <a:spcPts val="700"/>
              </a:spcAft>
              <a:buNone/>
            </a:pPr>
            <a:r>
              <a:rPr lang="en-GB" sz="1050" b="0" dirty="0">
                <a:solidFill>
                  <a:srgbClr val="4A4F58"/>
                </a:solidFill>
                <a:latin typeface="Helvetica Neue"/>
              </a:rPr>
              <a:t>last assessed never (dated from the start of the arrangement); cadence for high is 365 days</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What escalated (2)</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0" indent="0">
              <a:spcAft>
                <a:spcPts val="700"/>
              </a:spcAft>
              <a:buNone/>
            </a:pPr>
            <a:r>
              <a:rPr lang="en-GB" sz="1250" b="1" dirty="0">
                <a:solidFill>
                  <a:srgbClr val="8F5B06"/>
                </a:solidFill>
                <a:latin typeface="Helvetica Neue"/>
              </a:rPr>
              <a:t>HIGH  VA-001  ·  exit-untested</a:t>
            </a:r>
          </a:p>
          <a:p>
            <a:pPr marL="0" indent="0">
              <a:spcAft>
                <a:spcPts val="700"/>
              </a:spcAft>
              <a:buNone/>
            </a:pPr>
            <a:r>
              <a:rPr lang="en-GB" sz="1050" b="0" dirty="0">
                <a:solidFill>
                  <a:srgbClr val="4A4F58"/>
                </a:solidFill>
                <a:latin typeface="Helvetica Neue"/>
              </a:rPr>
              <a:t>a high arrangement whose exit strategy has never been exercised. Documented and tested are separate facts, and only one of them is evidence</a:t>
            </a:r>
          </a:p>
          <a:p>
            <a:pPr marL="0" indent="0">
              <a:spcAft>
                <a:spcPts val="700"/>
              </a:spcAft>
              <a:buNone/>
            </a:pPr>
            <a:r>
              <a:rPr lang="en-GB" sz="1250" b="1" dirty="0">
                <a:solidFill>
                  <a:srgbClr val="8F5B06"/>
                </a:solidFill>
                <a:latin typeface="Helvetica Neue"/>
              </a:rPr>
              <a:t>HIGH  VA-002  ·  assessment-overdue</a:t>
            </a:r>
          </a:p>
          <a:p>
            <a:pPr marL="0" indent="0">
              <a:spcAft>
                <a:spcPts val="700"/>
              </a:spcAft>
              <a:buNone/>
            </a:pPr>
            <a:r>
              <a:rPr lang="en-GB" sz="1050" b="0" dirty="0">
                <a:solidFill>
                  <a:srgbClr val="4A4F58"/>
                </a:solidFill>
                <a:latin typeface="Helvetica Neue"/>
              </a:rPr>
              <a:t>last assessed never (dated from the start of the arrangement); cadence for moderate is 730 days</a:t>
            </a:r>
          </a:p>
          <a:p>
            <a:pPr marL="0" indent="0">
              <a:spcAft>
                <a:spcPts val="700"/>
              </a:spcAft>
              <a:buNone/>
            </a:pPr>
            <a:r>
              <a:rPr lang="en-GB" sz="1250" b="1" dirty="0">
                <a:solidFill>
                  <a:srgbClr val="8F5B06"/>
                </a:solidFill>
                <a:latin typeface="Helvetica Neue"/>
              </a:rPr>
              <a:t>HIGH  VA-003  ·  untraced</a:t>
            </a:r>
          </a:p>
          <a:p>
            <a:pPr marL="0" indent="0">
              <a:spcAft>
                <a:spcPts val="700"/>
              </a:spcAft>
              <a:buNone/>
            </a:pPr>
            <a:r>
              <a:rPr lang="en-GB" sz="1050" b="0" dirty="0">
                <a:solidFill>
                  <a:srgbClr val="4A4F58"/>
                </a:solidFill>
                <a:latin typeface="Helvetica Neue"/>
              </a:rPr>
              <a:t>the trace could not reach a workflow with a declared criticality. This is not low criticality; it is an unanswered question about what this arrangement holds up</a:t>
            </a:r>
          </a:p>
          <a:p>
            <a:pPr marL="0" indent="0">
              <a:spcAft>
                <a:spcPts val="700"/>
              </a:spcAft>
              <a:buNone/>
            </a:pPr>
            <a:r>
              <a:rPr lang="en-GB" sz="1250" b="1" dirty="0">
                <a:solidFill>
                  <a:srgbClr val="8F5B06"/>
                </a:solidFill>
                <a:latin typeface="Helvetica Neue"/>
              </a:rPr>
              <a:t>HIGH  VA-005  ·  untraced</a:t>
            </a:r>
          </a:p>
          <a:p>
            <a:pPr marL="0" indent="0">
              <a:spcAft>
                <a:spcPts val="700"/>
              </a:spcAft>
              <a:buNone/>
            </a:pPr>
            <a:r>
              <a:rPr lang="en-GB" sz="1050" b="0" dirty="0">
                <a:solidFill>
                  <a:srgbClr val="4A4F58"/>
                </a:solidFill>
                <a:latin typeface="Helvetica Neue"/>
              </a:rPr>
              <a:t>the trace could not reach a workflow with a declared criticality. This is not low criticality; it is an unanswered question about what this arrangement holds up</a:t>
            </a:r>
          </a:p>
          <a:p>
            <a:pPr marL="0" indent="0">
              <a:spcAft>
                <a:spcPts val="700"/>
              </a:spcAft>
              <a:buNone/>
            </a:pPr>
            <a:r>
              <a:rPr lang="en-GB" sz="1250" b="1" dirty="0">
                <a:solidFill>
                  <a:srgbClr val="8F5B06"/>
                </a:solidFill>
                <a:latin typeface="Helvetica Neue"/>
              </a:rPr>
              <a:t>HIGH  D-001  ·  attack-class-uncontrolled</a:t>
            </a:r>
          </a:p>
          <a:p>
            <a:pPr marL="0" indent="0">
              <a:spcAft>
                <a:spcPts val="700"/>
              </a:spcAft>
              <a:buNone/>
            </a:pPr>
            <a:r>
              <a:rPr lang="en-GB" sz="1050" b="0" dirty="0">
                <a:solidFill>
                  <a:srgbClr val="4A4F58"/>
                </a:solidFill>
                <a:latin typeface="Helvetica Neue"/>
              </a:rPr>
              <a:t>NISTAML.01, NISTAML.04, NISTAML.05 have no control recorded against them. Recording one does not close the class — there is no closed state here — but nothing at all recorded is a different fact</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What escalated (3)</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0" indent="0">
              <a:spcAft>
                <a:spcPts val="700"/>
              </a:spcAft>
              <a:buNone/>
            </a:pPr>
            <a:r>
              <a:rPr lang="en-GB" sz="1250" b="1" dirty="0">
                <a:solidFill>
                  <a:srgbClr val="8F5B06"/>
                </a:solidFill>
                <a:latin typeface="Helvetica Neue"/>
              </a:rPr>
              <a:t>HIGH  D-001  ·  base-model-changed</a:t>
            </a:r>
          </a:p>
          <a:p>
            <a:pPr marL="0" indent="0">
              <a:spcAft>
                <a:spcPts val="700"/>
              </a:spcAft>
              <a:buNone/>
            </a:pPr>
            <a:r>
              <a:rPr lang="en-GB" sz="1050" b="0" dirty="0">
                <a:solidFill>
                  <a:srgbClr val="4A4F58"/>
                </a:solidFill>
                <a:latin typeface="Helvetica Neue"/>
              </a:rPr>
              <a:t>the disclosed base model is now GPT-cx-3; the assessment on 2026-04-10 was made against GPT-cx-2, with the product version unchanged at 2026.4</a:t>
            </a:r>
          </a:p>
          <a:p>
            <a:pPr marL="0" indent="0">
              <a:spcAft>
                <a:spcPts val="700"/>
              </a:spcAft>
              <a:buNone/>
            </a:pPr>
            <a:r>
              <a:rPr lang="en-GB" sz="1250" b="1" dirty="0">
                <a:solidFill>
                  <a:srgbClr val="8F5B06"/>
                </a:solidFill>
                <a:latin typeface="Helvetica Neue"/>
              </a:rPr>
              <a:t>HIGH  D-003  ·  assessment-overdue</a:t>
            </a:r>
          </a:p>
          <a:p>
            <a:pPr marL="0" indent="0">
              <a:spcAft>
                <a:spcPts val="700"/>
              </a:spcAft>
              <a:buNone/>
            </a:pPr>
            <a:r>
              <a:rPr lang="en-GB" sz="1050" b="0" dirty="0">
                <a:solidFill>
                  <a:srgbClr val="4A4F58"/>
                </a:solidFill>
                <a:latin typeface="Helvetica Neue"/>
              </a:rPr>
              <a:t>last assessed 2025-06-30; cadence for high is 365 days</a:t>
            </a:r>
          </a:p>
          <a:p>
            <a:pPr marL="0" indent="0">
              <a:spcAft>
                <a:spcPts val="700"/>
              </a:spcAft>
              <a:buNone/>
            </a:pPr>
            <a:r>
              <a:rPr lang="en-GB" sz="1250" b="1" dirty="0">
                <a:solidFill>
                  <a:srgbClr val="8F5B06"/>
                </a:solidFill>
                <a:latin typeface="Helvetica Neue"/>
              </a:rPr>
              <a:t>HIGH  D-004  ·  attack-class-uncontrolled</a:t>
            </a:r>
          </a:p>
          <a:p>
            <a:pPr marL="0" indent="0">
              <a:spcAft>
                <a:spcPts val="700"/>
              </a:spcAft>
              <a:buNone/>
            </a:pPr>
            <a:r>
              <a:rPr lang="en-GB" sz="1050" b="0" dirty="0">
                <a:solidFill>
                  <a:srgbClr val="4A4F58"/>
                </a:solidFill>
                <a:latin typeface="Helvetica Neue"/>
              </a:rPr>
              <a:t>NISTAML.02, NISTAML.03, NISTAML.04, NISTAML.05 have no control recorded against them. Recording one does not close the class — there is no closed state here — but nothing at all recorded is a different fact</a:t>
            </a:r>
          </a:p>
          <a:p>
            <a:pPr marL="0" indent="0">
              <a:spcAft>
                <a:spcPts val="700"/>
              </a:spcAft>
              <a:buNone/>
            </a:pPr>
            <a:r>
              <a:rPr lang="en-GB" sz="1250" b="1" dirty="0">
                <a:solidFill>
                  <a:srgbClr val="8F5B06"/>
                </a:solidFill>
                <a:latin typeface="Helvetica Neue"/>
              </a:rPr>
              <a:t>HIGH  D-005  ·  unsanctioned-in-use</a:t>
            </a:r>
          </a:p>
          <a:p>
            <a:pPr marL="0" indent="0">
              <a:spcAft>
                <a:spcPts val="700"/>
              </a:spcAft>
              <a:buNone/>
            </a:pPr>
            <a:r>
              <a:rPr lang="en-GB" sz="1050" b="0" dirty="0">
                <a:solidFill>
                  <a:srgbClr val="4A4F58"/>
                </a:solidFill>
                <a:latin typeface="Helvetica Neue"/>
              </a:rPr>
              <a:t>S-004 is recorded as unsanctioned and has a live deployment. Somebody is using it either way; the only question is whether the organisation knows what it agreed to</a:t>
            </a:r>
          </a:p>
          <a:p>
            <a:pPr marL="0" indent="0">
              <a:spcAft>
                <a:spcPts val="700"/>
              </a:spcAft>
              <a:buNone/>
            </a:pPr>
            <a:r>
              <a:rPr lang="en-GB" sz="1250" b="1" dirty="0">
                <a:solidFill>
                  <a:srgbClr val="8F5B06"/>
                </a:solidFill>
                <a:latin typeface="Helvetica Neue"/>
              </a:rPr>
              <a:t>HIGH  D-005  ·  untraced</a:t>
            </a:r>
          </a:p>
          <a:p>
            <a:pPr marL="0" indent="0">
              <a:spcAft>
                <a:spcPts val="700"/>
              </a:spcAft>
              <a:buNone/>
            </a:pPr>
            <a:r>
              <a:rPr lang="en-GB" sz="1050" b="0" dirty="0">
                <a:solidFill>
                  <a:srgbClr val="4A4F58"/>
                </a:solidFill>
                <a:latin typeface="Helvetica Neue"/>
              </a:rPr>
              <a:t>the trace could not reach a workflow with a declared criticality. This is not low criticality; it is an unanswered question about what this deployment holds up</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What escalated (4)</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0" indent="0">
              <a:spcAft>
                <a:spcPts val="700"/>
              </a:spcAft>
              <a:buNone/>
            </a:pPr>
            <a:r>
              <a:rPr lang="en-GB" sz="1250" b="1" dirty="0">
                <a:solidFill>
                  <a:srgbClr val="8F5B06"/>
                </a:solidFill>
                <a:latin typeface="Helvetica Neue"/>
              </a:rPr>
              <a:t>HIGH  M-001  ·  threshold-breached</a:t>
            </a:r>
          </a:p>
          <a:p>
            <a:pPr marL="0" indent="0">
              <a:spcAft>
                <a:spcPts val="700"/>
              </a:spcAft>
              <a:buNone/>
            </a:pPr>
            <a:r>
              <a:rPr lang="en-GB" sz="1050" b="0" dirty="0">
                <a:solidFill>
                  <a:srgbClr val="4A4F58"/>
                </a:solidFill>
                <a:latin typeface="Helvetica Neue"/>
              </a:rPr>
              <a:t>Critical patches applied within SLA is 88.0% against a warn limit of 90.0%, for 1 reading (90.0 -&gt; 88.0; against 2026-Q3)</a:t>
            </a:r>
          </a:p>
          <a:p>
            <a:pPr marL="0" indent="0">
              <a:spcAft>
                <a:spcPts val="700"/>
              </a:spcAft>
              <a:buNone/>
            </a:pPr>
            <a:r>
              <a:rPr lang="en-GB" sz="1250" b="1" dirty="0">
                <a:solidFill>
                  <a:srgbClr val="8F5B06"/>
                </a:solidFill>
                <a:latin typeface="Helvetica Neue"/>
              </a:rPr>
              <a:t>HIGH  M-003  ·  threshold-breached</a:t>
            </a:r>
          </a:p>
          <a:p>
            <a:pPr marL="0" indent="0">
              <a:spcAft>
                <a:spcPts val="700"/>
              </a:spcAft>
              <a:buNone/>
            </a:pPr>
            <a:r>
              <a:rPr lang="en-GB" sz="1050" b="0" dirty="0">
                <a:solidFill>
                  <a:srgbClr val="4A4F58"/>
                </a:solidFill>
                <a:latin typeface="Helvetica Neue"/>
              </a:rPr>
              <a:t>Phishing simulation click rate is 6.8% against a warn limit of 6.0%, for 1 reading (6.0 -&gt; 6.8; against 2026-Q3)</a:t>
            </a:r>
          </a:p>
          <a:p>
            <a:pPr marL="0" indent="0">
              <a:spcAft>
                <a:spcPts val="700"/>
              </a:spcAft>
              <a:buNone/>
            </a:pPr>
            <a:r>
              <a:rPr lang="en-GB" sz="1250" b="1" dirty="0">
                <a:solidFill>
                  <a:srgbClr val="8F5B06"/>
                </a:solidFill>
                <a:latin typeface="Helvetica Neue"/>
              </a:rPr>
              <a:t>HIGH  A-002  ·  revalidation-overdue</a:t>
            </a:r>
          </a:p>
          <a:p>
            <a:pPr marL="0" indent="0">
              <a:spcAft>
                <a:spcPts val="700"/>
              </a:spcAft>
              <a:buNone/>
            </a:pPr>
            <a:r>
              <a:rPr lang="en-GB" sz="1050" b="0" dirty="0">
                <a:solidFill>
                  <a:srgbClr val="4A4F58"/>
                </a:solidFill>
                <a:latin typeface="Helvetica Neue"/>
              </a:rPr>
              <a:t>Customer records held by the CRM vendor without direct control was due for re-validation 2026-04-01, 121 days ago — the approval stands but nobody has re-checked the reasoning (2026-04-01 -&gt; 2026-07-31; against Board)</a:t>
            </a:r>
          </a:p>
          <a:p>
            <a:pPr marL="0" indent="0">
              <a:spcAft>
                <a:spcPts val="700"/>
              </a:spcAft>
              <a:buNone/>
            </a:pPr>
            <a:r>
              <a:rPr lang="en-GB" sz="1250" b="1" dirty="0">
                <a:solidFill>
                  <a:srgbClr val="7A6410"/>
                </a:solidFill>
                <a:latin typeface="Helvetica Neue"/>
              </a:rPr>
              <a:t>MEDIUM  R-008  ·  sustained-drift</a:t>
            </a:r>
          </a:p>
          <a:p>
            <a:pPr marL="0" indent="0">
              <a:spcAft>
                <a:spcPts val="700"/>
              </a:spcAft>
              <a:buNone/>
            </a:pPr>
            <a:r>
              <a:rPr lang="en-GB" sz="1050" b="0" dirty="0">
                <a:solidFill>
                  <a:srgbClr val="4A4F58"/>
                </a:solidFill>
                <a:latin typeface="Helvetica Neue"/>
              </a:rPr>
              <a:t>residual exposure worsened across 2 consecutive snapshots without crossing a band (5 -&gt; 8; against Q3 2026 Board Review)</a:t>
            </a:r>
          </a:p>
          <a:p>
            <a:pPr marL="0" indent="0">
              <a:spcAft>
                <a:spcPts val="700"/>
              </a:spcAft>
              <a:buNone/>
            </a:pPr>
            <a:r>
              <a:rPr lang="en-GB" sz="1250" b="1" dirty="0">
                <a:solidFill>
                  <a:srgbClr val="7A6410"/>
                </a:solidFill>
                <a:latin typeface="Helvetica Neue"/>
              </a:rPr>
              <a:t>MEDIUM  VA-002  ·  criticality-conflict</a:t>
            </a:r>
          </a:p>
          <a:p>
            <a:pPr marL="0" indent="0">
              <a:spcAft>
                <a:spcPts val="700"/>
              </a:spcAft>
              <a:buNone/>
            </a:pPr>
            <a:r>
              <a:rPr lang="en-GB" sz="1050" b="0" dirty="0">
                <a:solidFill>
                  <a:srgbClr val="4A4F58"/>
                </a:solidFill>
                <a:latin typeface="Helvetica Neue"/>
              </a:rPr>
              <a:t>derived high, assigned moderate by Sales Operations Director. Process E exists for consistency across layers, so a disagreement is a finding rather than an error</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What escalated (5)</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0" indent="0">
              <a:spcAft>
                <a:spcPts val="700"/>
              </a:spcAft>
              <a:buNone/>
            </a:pPr>
            <a:r>
              <a:rPr lang="en-GB" sz="1250" b="1" dirty="0">
                <a:solidFill>
                  <a:srgbClr val="7A6410"/>
                </a:solidFill>
                <a:latin typeface="Helvetica Neue"/>
              </a:rPr>
              <a:t>MEDIUM  VA-003  ·  criticality-unreconciled</a:t>
            </a:r>
          </a:p>
          <a:p>
            <a:pPr marL="0" indent="0">
              <a:spcAft>
                <a:spcPts val="700"/>
              </a:spcAft>
              <a:buNone/>
            </a:pPr>
            <a:r>
              <a:rPr lang="en-GB" sz="1050" b="0" dirty="0">
                <a:solidFill>
                  <a:srgbClr val="4A4F58"/>
                </a:solidFill>
                <a:latin typeface="Helvetica Neue"/>
              </a:rPr>
              <a:t>a level was derived (untraced) and nobody has assigned the final one</a:t>
            </a:r>
          </a:p>
          <a:p>
            <a:pPr marL="0" indent="0">
              <a:spcAft>
                <a:spcPts val="700"/>
              </a:spcAft>
              <a:buNone/>
            </a:pPr>
            <a:r>
              <a:rPr lang="en-GB" sz="1250" b="1" dirty="0">
                <a:solidFill>
                  <a:srgbClr val="7A6410"/>
                </a:solidFill>
                <a:latin typeface="Helvetica Neue"/>
              </a:rPr>
              <a:t>MEDIUM  VA-003  ·  supplier-changed</a:t>
            </a:r>
          </a:p>
          <a:p>
            <a:pPr marL="0" indent="0">
              <a:spcAft>
                <a:spcPts val="700"/>
              </a:spcAft>
              <a:buNone/>
            </a:pPr>
            <a:r>
              <a:rPr lang="en-GB" sz="1050" b="0" dirty="0">
                <a:solidFill>
                  <a:srgbClr val="4A4F58"/>
                </a:solidFill>
                <a:latin typeface="Helvetica Neue"/>
              </a:rPr>
              <a:t>subprocessor 'Woodgrove Data Services' effective 2026-06-15, after the last assessment (none recorded)</a:t>
            </a:r>
          </a:p>
          <a:p>
            <a:pPr marL="0" indent="0">
              <a:spcAft>
                <a:spcPts val="700"/>
              </a:spcAft>
              <a:buNone/>
            </a:pPr>
            <a:r>
              <a:rPr lang="en-GB" sz="1250" b="1" dirty="0">
                <a:solidFill>
                  <a:srgbClr val="7A6410"/>
                </a:solidFill>
                <a:latin typeface="Helvetica Neue"/>
              </a:rPr>
              <a:t>MEDIUM  VA-005  ·  criticality-unreconciled</a:t>
            </a:r>
          </a:p>
          <a:p>
            <a:pPr marL="0" indent="0">
              <a:spcAft>
                <a:spcPts val="700"/>
              </a:spcAft>
              <a:buNone/>
            </a:pPr>
            <a:r>
              <a:rPr lang="en-GB" sz="1050" b="0" dirty="0">
                <a:solidFill>
                  <a:srgbClr val="4A4F58"/>
                </a:solidFill>
                <a:latin typeface="Helvetica Neue"/>
              </a:rPr>
              <a:t>a level was derived (untraced) and nobody has assigned the final one</a:t>
            </a:r>
          </a:p>
          <a:p>
            <a:pPr marL="0" indent="0">
              <a:spcAft>
                <a:spcPts val="700"/>
              </a:spcAft>
              <a:buNone/>
            </a:pPr>
            <a:r>
              <a:rPr lang="en-GB" sz="1250" b="1" dirty="0">
                <a:solidFill>
                  <a:srgbClr val="7A6410"/>
                </a:solidFill>
                <a:latin typeface="Helvetica Neue"/>
              </a:rPr>
              <a:t>MEDIUM  D-002  ·  attack-class-uncontrolled</a:t>
            </a:r>
          </a:p>
          <a:p>
            <a:pPr marL="0" indent="0">
              <a:spcAft>
                <a:spcPts val="700"/>
              </a:spcAft>
              <a:buNone/>
            </a:pPr>
            <a:r>
              <a:rPr lang="en-GB" sz="1050" b="0" dirty="0">
                <a:solidFill>
                  <a:srgbClr val="4A4F58"/>
                </a:solidFill>
                <a:latin typeface="Helvetica Neue"/>
              </a:rPr>
              <a:t>NISTAML.01, NISTAML.02, NISTAML.03, NISTAML.04, NISTAML.05 have no control recorded against them. Recording one does not close the class — there is no closed state here — but nothing at all recorded is a different fact</a:t>
            </a:r>
          </a:p>
          <a:p>
            <a:pPr marL="0" indent="0">
              <a:spcAft>
                <a:spcPts val="700"/>
              </a:spcAft>
              <a:buNone/>
            </a:pPr>
            <a:r>
              <a:rPr lang="en-GB" sz="1250" b="1" dirty="0">
                <a:solidFill>
                  <a:srgbClr val="7A6410"/>
                </a:solidFill>
                <a:latin typeface="Helvetica Neue"/>
              </a:rPr>
              <a:t>MEDIUM  D-003  ·  attack-class-uncontrolled</a:t>
            </a:r>
          </a:p>
          <a:p>
            <a:pPr marL="0" indent="0">
              <a:spcAft>
                <a:spcPts val="700"/>
              </a:spcAft>
              <a:buNone/>
            </a:pPr>
            <a:r>
              <a:rPr lang="en-GB" sz="1050" b="0" dirty="0">
                <a:solidFill>
                  <a:srgbClr val="4A4F58"/>
                </a:solidFill>
                <a:latin typeface="Helvetica Neue"/>
              </a:rPr>
              <a:t>NISTAML.01, NISTAML.02, NISTAML.03 have no control recorded against them. Recording one does not close the class — there is no closed state here — but nothing at all recorded is a different fact</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What escalated (6)</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0" indent="0">
              <a:spcAft>
                <a:spcPts val="700"/>
              </a:spcAft>
              <a:buNone/>
            </a:pPr>
            <a:r>
              <a:rPr lang="en-GB" sz="1250" b="1" dirty="0">
                <a:solidFill>
                  <a:srgbClr val="7A6410"/>
                </a:solidFill>
                <a:latin typeface="Helvetica Neue"/>
              </a:rPr>
              <a:t>MEDIUM  D-004  ·  autonomy-increased</a:t>
            </a:r>
          </a:p>
          <a:p>
            <a:pPr marL="0" indent="0">
              <a:spcAft>
                <a:spcPts val="700"/>
              </a:spcAft>
              <a:buNone/>
            </a:pPr>
            <a:r>
              <a:rPr lang="en-GB" sz="1050" b="0" dirty="0">
                <a:solidFill>
                  <a:srgbClr val="4A4F58"/>
                </a:solidFill>
                <a:latin typeface="Helvetica Neue"/>
              </a:rPr>
              <a:t>it now reaches the change queue, which it did not when it was assessed on 2026-03-05</a:t>
            </a:r>
          </a:p>
          <a:p>
            <a:pPr marL="0" indent="0">
              <a:spcAft>
                <a:spcPts val="700"/>
              </a:spcAft>
              <a:buNone/>
            </a:pPr>
            <a:r>
              <a:rPr lang="en-GB" sz="1250" b="1" dirty="0">
                <a:solidFill>
                  <a:srgbClr val="7A6410"/>
                </a:solidFill>
                <a:latin typeface="Helvetica Neue"/>
              </a:rPr>
              <a:t>MEDIUM  D-005  ·  attack-class-uncontrolled</a:t>
            </a:r>
          </a:p>
          <a:p>
            <a:pPr marL="0" indent="0">
              <a:spcAft>
                <a:spcPts val="700"/>
              </a:spcAft>
              <a:buNone/>
            </a:pPr>
            <a:r>
              <a:rPr lang="en-GB" sz="1050" b="0" dirty="0">
                <a:solidFill>
                  <a:srgbClr val="4A4F58"/>
                </a:solidFill>
                <a:latin typeface="Helvetica Neue"/>
              </a:rPr>
              <a:t>NISTAML.01, NISTAML.02, NISTAML.04, NISTAML.05 have no control recorded against them. Recording one does not close the class — there is no closed state here — but nothing at all recorded is a different fact</a:t>
            </a:r>
          </a:p>
          <a:p>
            <a:pPr marL="0" indent="0">
              <a:spcAft>
                <a:spcPts val="700"/>
              </a:spcAft>
              <a:buNone/>
            </a:pPr>
            <a:r>
              <a:rPr lang="en-GB" sz="1250" b="1" dirty="0">
                <a:solidFill>
                  <a:srgbClr val="7A6410"/>
                </a:solidFill>
                <a:latin typeface="Helvetica Neue"/>
              </a:rPr>
              <a:t>MEDIUM  D-005  ·  provider-arrangement-missing</a:t>
            </a:r>
          </a:p>
          <a:p>
            <a:pPr marL="0" indent="0">
              <a:spcAft>
                <a:spcPts val="700"/>
              </a:spcAft>
              <a:buNone/>
            </a:pPr>
            <a:r>
              <a:rPr lang="en-GB" sz="1050" b="0" dirty="0">
                <a:solidFill>
                  <a:srgbClr val="4A4F58"/>
                </a:solidFill>
                <a:latin typeface="Helvetica Neue"/>
              </a:rPr>
              <a:t>S-004 runs on Tailspin's infrastructure and names no arrangement in the third-party register. The contractual questions this raises — incident notice, subprocessors, exit — are asked there, of the provider, not here</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Decisions (1)</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228600" indent="-228600">
              <a:spcAft>
                <a:spcPts val="700"/>
              </a:spcAft>
              <a:buFont typeface="Arial"/>
              <a:buChar char="•"/>
            </a:pPr>
            <a:r>
              <a:rPr lang="en-GB" sz="1300" b="0" dirty="0">
                <a:solidFill>
                  <a:srgbClr val="14171C"/>
                </a:solidFill>
                <a:latin typeface="Helvetica Neue"/>
              </a:rPr>
              <a:t>Decide whether third-party risk is a programme with an owner and a budget, or a set of individual acceptances the board re-confirms one at a time. The pack shows it being managed as the second while being described as the first, and this quarter is what that costs.</a:t>
            </a:r>
          </a:p>
          <a:p>
            <a:pPr marL="228600" indent="-228600">
              <a:spcAft>
                <a:spcPts val="700"/>
              </a:spcAft>
              <a:buFont typeface="Arial"/>
              <a:buChar char="•"/>
            </a:pPr>
            <a:r>
              <a:rPr lang="en-GB" sz="1300" b="0" dirty="0">
                <a:solidFill>
                  <a:srgbClr val="14171C"/>
                </a:solidFill>
                <a:latin typeface="Helvetica Neue"/>
              </a:rPr>
              <a:t>Fund the data-at-rest encryption programme to close PR.DS-01, or record the board's acceptance of that exposure for a further two quarters.</a:t>
            </a:r>
          </a:p>
          <a:p>
            <a:pPr marL="228600" indent="-228600">
              <a:spcAft>
                <a:spcPts val="700"/>
              </a:spcAft>
              <a:buFont typeface="Arial"/>
              <a:buChar char="•"/>
            </a:pPr>
            <a:r>
              <a:rPr lang="en-GB" sz="1300" b="0" dirty="0">
                <a:solidFill>
                  <a:srgbClr val="14171C"/>
                </a:solidFill>
                <a:latin typeface="Helvetica Neue"/>
              </a:rPr>
              <a:t>Fund DMARC enforcement and supplier bank-detail verification to bring payment fraud (R-007) back within appetite, or record the board's acceptance of a Critical residual.</a:t>
            </a:r>
          </a:p>
          <a:p>
            <a:pPr marL="228600" indent="-228600">
              <a:spcAft>
                <a:spcPts val="700"/>
              </a:spcAft>
              <a:buFont typeface="Arial"/>
              <a:buChar char="•"/>
            </a:pPr>
            <a:r>
              <a:rPr lang="en-GB" sz="1300" b="0" dirty="0">
                <a:solidFill>
                  <a:srgbClr val="14171C"/>
                </a:solidFill>
                <a:latin typeface="Helvetica Neue"/>
              </a:rPr>
              <a:t>Fund network segmentation to hold the ransomware improvement (R-006), which is currently within appetite on a patch alone.</a:t>
            </a:r>
          </a:p>
          <a:p>
            <a:pPr marL="228600" indent="-228600">
              <a:spcAft>
                <a:spcPts val="700"/>
              </a:spcAft>
              <a:buFont typeface="Arial"/>
              <a:buChar char="•"/>
            </a:pPr>
            <a:r>
              <a:rPr lang="en-GB" sz="1300" b="0" dirty="0">
                <a:solidFill>
                  <a:srgbClr val="14171C"/>
                </a:solidFill>
                <a:latin typeface="Helvetica Neue"/>
              </a:rPr>
              <a:t>Fund a tested failover for the plant historian, or record the board's acceptance that the group's single production dependency has an untested exit for a further year.</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Decisions (2)</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228600" indent="-228600">
              <a:spcAft>
                <a:spcPts val="700"/>
              </a:spcAft>
              <a:buFont typeface="Arial"/>
              <a:buChar char="•"/>
            </a:pPr>
            <a:r>
              <a:rPr lang="en-GB" sz="1300" b="0" dirty="0">
                <a:solidFill>
                  <a:srgbClr val="14171C"/>
                </a:solidFill>
                <a:latin typeface="Helvetica Neue"/>
              </a:rPr>
              <a:t>Direct that no arrangement stays untraced past one quarter — two of five currently are, and an untraced dependency is one nobody can size.</a:t>
            </a:r>
          </a:p>
          <a:p>
            <a:pPr marL="228600" indent="-228600">
              <a:spcAft>
                <a:spcPts val="700"/>
              </a:spcAft>
              <a:buFont typeface="Arial"/>
              <a:buChar char="•"/>
            </a:pPr>
            <a:r>
              <a:rPr lang="en-GB" sz="1300" b="0" dirty="0">
                <a:solidFill>
                  <a:srgbClr val="14171C"/>
                </a:solidFill>
                <a:latin typeface="Helvetica Neue"/>
              </a:rPr>
              <a:t>Decide whether a provider may change the model underneath a deployment that decides about people without telling us, or whether that requires notice we can act on. Today the answer is that they may, and we found out because we recorded the base model.</a:t>
            </a:r>
          </a:p>
          <a:p>
            <a:pPr marL="228600" indent="-228600">
              <a:spcAft>
                <a:spcPts val="700"/>
              </a:spcAft>
              <a:buFont typeface="Arial"/>
              <a:buChar char="•"/>
            </a:pPr>
            <a:r>
              <a:rPr lang="en-GB" sz="1300" b="0" dirty="0">
                <a:solidFill>
                  <a:srgbClr val="14171C"/>
                </a:solidFill>
                <a:latin typeface="Helvetica Neue"/>
              </a:rPr>
              <a:t>Decide the sanction position on AI tools staff adopt themselves: approve a route that is faster than the workaround, or accept that unsanctioned tools will keep reaching customers.</a:t>
            </a:r>
          </a:p>
          <a:p>
            <a:pPr marL="228600" indent="-228600">
              <a:spcAft>
                <a:spcPts val="700"/>
              </a:spcAft>
              <a:buFont typeface="Arial"/>
              <a:buChar char="•"/>
            </a:pPr>
            <a:r>
              <a:rPr lang="en-GB" sz="1300" b="0" dirty="0">
                <a:solidFill>
                  <a:srgbClr val="14171C"/>
                </a:solidFill>
                <a:latin typeface="Helvetica Neue"/>
              </a:rPr>
              <a:t>Fund the patching backlog on internet-facing systems to bring M-001 back inside the agreed service level, or record the board's acceptance of a 40-day window on those systems.</a:t>
            </a:r>
          </a:p>
          <a:p>
            <a:pPr marL="228600" indent="-228600">
              <a:spcAft>
                <a:spcPts val="700"/>
              </a:spcAft>
              <a:buFont typeface="Arial"/>
              <a:buChar char="•"/>
            </a:pPr>
            <a:r>
              <a:rPr lang="en-GB" sz="1300" b="0" dirty="0">
                <a:solidFill>
                  <a:srgbClr val="14171C"/>
                </a:solidFill>
                <a:latin typeface="Helvetica Neue"/>
              </a:rPr>
              <a:t>Re-validate the CRM vendor acceptance (A-002) on the record, or withdraw it and fund a change of vendor or of control.</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Decisions (3)</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228600" indent="-228600">
              <a:spcAft>
                <a:spcPts val="700"/>
              </a:spcAft>
              <a:buFont typeface="Arial"/>
              <a:buChar char="•"/>
            </a:pPr>
            <a:r>
              <a:rPr lang="en-GB" sz="1300" b="0" dirty="0">
                <a:solidFill>
                  <a:srgbClr val="14171C"/>
                </a:solidFill>
                <a:latin typeface="Helvetica Neue"/>
              </a:rPr>
              <a:t>Decide whether to extend the Finance MFA exception (X-001) past its November expiry or accept the ERP timeline slipping into the risk it creates.</a:t>
            </a:r>
          </a:p>
          <a:p>
            <a:pPr marL="228600" indent="-228600">
              <a:spcAft>
                <a:spcPts val="700"/>
              </a:spcAft>
              <a:buFont typeface="Arial"/>
              <a:buChar char="•"/>
            </a:pPr>
            <a:r>
              <a:rPr lang="en-GB" sz="1300" b="0" dirty="0">
                <a:solidFill>
                  <a:srgbClr val="14171C"/>
                </a:solidFill>
                <a:latin typeface="Helvetica Neue"/>
              </a:rPr>
              <a:t>Note the Form 8-K filed on 17 July and confirm the committee is content with the process the disclosure committee followed to reach the determination.</a:t>
            </a:r>
          </a:p>
          <a:p>
            <a:pPr marL="228600" indent="-228600">
              <a:spcAft>
                <a:spcPts val="700"/>
              </a:spcAft>
              <a:buFont typeface="Arial"/>
              <a:buChar char="•"/>
            </a:pPr>
            <a:r>
              <a:rPr lang="en-GB" sz="1300" b="0" dirty="0">
                <a:solidFill>
                  <a:srgbClr val="14171C"/>
                </a:solidFill>
                <a:latin typeface="Helvetica Neue"/>
              </a:rPr>
              <a:t>Re-confirm or withdraw acceptance A-002 on the record: it was due for re-confirmation in April, was not re-confirmed, and the exposure it describes has now occurred.</a:t>
            </a:r>
          </a:p>
          <a:p>
            <a:pPr marL="228600" indent="-228600">
              <a:spcAft>
                <a:spcPts val="700"/>
              </a:spcAft>
              <a:buFont typeface="Arial"/>
              <a:buChar char="•"/>
            </a:pPr>
            <a:r>
              <a:rPr lang="en-GB" sz="1300" b="0" dirty="0">
                <a:solidFill>
                  <a:srgbClr val="14171C"/>
                </a:solidFill>
                <a:latin typeface="Helvetica Neue"/>
              </a:rPr>
              <a:t>Fund the work that would close the weakness the three credential-stuffing waves have in common, or decide to carry it into next year with the residual risk recorded and owned.</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Management actions — not for board decision (1)</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228600" indent="-228600">
              <a:spcAft>
                <a:spcPts val="700"/>
              </a:spcAft>
              <a:buFont typeface="Arial"/>
              <a:buChar char="•"/>
            </a:pPr>
            <a:r>
              <a:rPr lang="en-GB" sz="1300" b="0" dirty="0">
                <a:solidFill>
                  <a:srgbClr val="14171C"/>
                </a:solidFill>
                <a:latin typeface="Helvetica Neue"/>
              </a:rPr>
              <a:t>Name an owner for supply-chain risk management (GV.SC-01) — the outcome cannot start without one.</a:t>
            </a:r>
          </a:p>
          <a:p>
            <a:pPr marL="228600" indent="-228600">
              <a:spcAft>
                <a:spcPts val="700"/>
              </a:spcAft>
              <a:buFont typeface="Arial"/>
              <a:buChar char="•"/>
            </a:pPr>
            <a:r>
              <a:rPr lang="en-GB" sz="1300" b="0" dirty="0">
                <a:solidFill>
                  <a:srgbClr val="14171C"/>
                </a:solidFill>
                <a:latin typeface="Helvetica Neue"/>
              </a:rPr>
              <a:t>Approve the assessment work to close ID.RA-01, so the next review reports a finding rather than a blank.</a:t>
            </a:r>
          </a:p>
          <a:p>
            <a:pPr marL="228600" indent="-228600">
              <a:spcAft>
                <a:spcPts val="700"/>
              </a:spcAft>
              <a:buFont typeface="Arial"/>
              <a:buChar char="•"/>
            </a:pPr>
            <a:r>
              <a:rPr lang="en-GB" sz="1300" b="0" dirty="0">
                <a:solidFill>
                  <a:srgbClr val="14171C"/>
                </a:solidFill>
                <a:latin typeface="Helvetica Neue"/>
              </a:rPr>
              <a:t>Name an owner for the two untraced arrangements and have them declare what each one supports, so the next review can size them.</a:t>
            </a:r>
          </a:p>
          <a:p>
            <a:pPr marL="228600" indent="-228600">
              <a:spcAft>
                <a:spcPts val="700"/>
              </a:spcAft>
              <a:buFont typeface="Arial"/>
              <a:buChar char="•"/>
            </a:pPr>
            <a:r>
              <a:rPr lang="en-GB" sz="1300" b="0" dirty="0">
                <a:solidFill>
                  <a:srgbClr val="14171C"/>
                </a:solidFill>
                <a:latin typeface="Helvetica Neue"/>
              </a:rPr>
              <a:t>Have the owner of the shadow writing deployment declare what it supports, so the next review can place it rather than reporting it as untraced.</a:t>
            </a:r>
          </a:p>
          <a:p>
            <a:pPr marL="228600" indent="-228600">
              <a:spcAft>
                <a:spcPts val="700"/>
              </a:spcAft>
              <a:buFont typeface="Arial"/>
              <a:buChar char="•"/>
            </a:pPr>
            <a:r>
              <a:rPr lang="en-GB" sz="1300" b="0" dirty="0">
                <a:solidFill>
                  <a:srgbClr val="14171C"/>
                </a:solidFill>
                <a:latin typeface="Helvetica Neue"/>
              </a:rPr>
              <a:t>Re-assess the auto-remediation deployment against the three systems it now reaches, rather than the two it was assessed against.</a:t>
            </a:r>
          </a:p>
          <a:p>
            <a:pPr marL="0" indent="0">
              <a:spcAft>
                <a:spcPts val="700"/>
              </a:spcAft>
              <a:buNone/>
            </a:pPr>
            <a:r>
              <a:rPr lang="en-GB" sz="1000" b="0" dirty="0">
                <a:solidFill>
                  <a:srgbClr val="4A4F58"/>
                </a:solidFill>
                <a:latin typeface="Helvetica Neue"/>
              </a:rPr>
              <a:t>Marked by the section that raised each one. An ask nobody marked stays on the decision slides.</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Management actions — not for board decision (2)</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228600" indent="-228600">
              <a:spcAft>
                <a:spcPts val="700"/>
              </a:spcAft>
              <a:buFont typeface="Arial"/>
              <a:buChar char="•"/>
            </a:pPr>
            <a:r>
              <a:rPr lang="en-GB" sz="1300" b="0" dirty="0">
                <a:solidFill>
                  <a:srgbClr val="14171C"/>
                </a:solidFill>
                <a:latin typeface="Helvetica Neue"/>
              </a:rPr>
              <a:t>Schedule and resource a backup restore test before the next review, so M-006 reports a measured figure rather than an eight-month-old one.</a:t>
            </a:r>
          </a:p>
          <a:p>
            <a:pPr marL="0" indent="0">
              <a:spcAft>
                <a:spcPts val="700"/>
              </a:spcAft>
              <a:buNone/>
            </a:pPr>
            <a:r>
              <a:rPr lang="en-GB" sz="1000" b="0" dirty="0">
                <a:solidFill>
                  <a:srgbClr val="4A4F58"/>
                </a:solidFill>
                <a:latin typeface="Helvetica Neue"/>
              </a:rPr>
              <a:t>Marked by the section that raised each one. An ask nobody marked stays on the decision slides.</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 backdrop"/>
          <p:cNvSpPr/>
          <p:nvPr/>
        </p:nvSpPr>
        <p:spPr>
          <a:xfrm>
            <a:off x="0" y="0"/>
            <a:ext cx="12191695" cy="6858000"/>
          </a:xfrm>
          <a:prstGeom prst="rect">
            <a:avLst/>
          </a:prstGeom>
          <a:solidFill>
            <a:srgbClr val="14171C"/>
          </a:solidFill>
          <a:ln>
            <a:noFill/>
          </a:ln>
        </p:spPr>
        <p:txBody>
          <a:bodyPr/>
          <a:lstStyle/>
          <a:p/>
        </p:txBody>
      </p:sp>
      <p:sp>
        <p:nvSpPr>
          <p:cNvPr id="3" name="Section label"/>
          <p:cNvSpPr txBox="1"/>
          <p:nvPr/>
        </p:nvSpPr>
        <p:spPr>
          <a:xfrm>
            <a:off x="685800" y="2606040"/>
            <a:ext cx="10820095" cy="1097280"/>
          </a:xfrm>
          <a:prstGeom prst="rect">
            <a:avLst/>
          </a:prstGeom>
          <a:noFill/>
        </p:spPr>
        <p:txBody>
          <a:bodyPr wrap="square" lIns="0" tIns="0" rIns="0" bIns="0">
            <a:normAutofit/>
          </a:bodyPr>
          <a:lstStyle/>
          <a:p>
            <a:pPr marL="0" indent="0">
              <a:spcAft>
                <a:spcPts val="0"/>
              </a:spcAft>
              <a:buNone/>
            </a:pPr>
            <a:r>
              <a:rPr lang="en-GB" sz="3200" b="1" dirty="0">
                <a:solidFill>
                  <a:srgbClr val="EAE7DF"/>
                </a:solidFill>
                <a:latin typeface="Helvetica Neue"/>
              </a:rPr>
              <a:t>Framework posture</a:t>
            </a:r>
          </a:p>
        </p:txBody>
      </p:sp>
      <p:sp>
        <p:nvSpPr>
          <p:cNvPr id="4" name="Section rule"/>
          <p:cNvSpPr/>
          <p:nvPr/>
        </p:nvSpPr>
        <p:spPr>
          <a:xfrm>
            <a:off x="685800" y="3977639"/>
            <a:ext cx="1097280" cy="38100"/>
          </a:xfrm>
          <a:prstGeom prst="rect">
            <a:avLst/>
          </a:prstGeom>
          <a:solidFill>
            <a:srgbClr val="2FA98C"/>
          </a:solidFill>
          <a:ln>
            <a:noFill/>
          </a:ln>
        </p:spPr>
        <p:txBody>
          <a:bodyPr/>
          <a:lstStyle/>
          <a:p/>
        </p:txBody>
      </p:sp>
      <p:sp>
        <p:nvSpPr>
          <p:cNvPr id="5" name="Section counter"/>
          <p:cNvSpPr txBox="1"/>
          <p:nvPr/>
        </p:nvSpPr>
        <p:spPr>
          <a:xfrm>
            <a:off x="685800" y="4251960"/>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9AA0A6"/>
                </a:solidFill>
                <a:latin typeface="Helvetica Neue"/>
              </a:rPr>
              <a:t>Section 1 of 7</a:t>
            </a:r>
          </a:p>
        </p:txBody>
      </p:sp>
      <p:sp>
        <p:nvSpPr>
          <p:cNvPr id="6" name="Footer spark"/>
          <p:cNvSpPr/>
          <p:nvPr/>
        </p:nvSpPr>
        <p:spPr>
          <a:xfrm>
            <a:off x="685800" y="6304788"/>
            <a:ext cx="118872" cy="118872"/>
          </a:xfrm>
          <a:prstGeom prst="diamond">
            <a:avLst/>
          </a:prstGeom>
          <a:solidFill>
            <a:srgbClr val="2FA98C"/>
          </a:solidFill>
          <a:ln>
            <a:noFill/>
          </a:ln>
        </p:spPr>
        <p:txBody>
          <a:bodyPr/>
          <a:lstStyle/>
          <a:p/>
        </p:txBody>
      </p:sp>
      <p:sp>
        <p:nvSpPr>
          <p:cNvPr id="7"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9AA0A6"/>
                </a:solidFill>
                <a:latin typeface="Helvetica Neue"/>
              </a:rPr>
              <a:t>A Cyber Aware Creation · Not affiliated with NIST · as at 2026-07-31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Framework posture</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0" indent="0">
              <a:spcAft>
                <a:spcPts val="700"/>
              </a:spcAft>
              <a:buNone/>
            </a:pPr>
            <a:r>
              <a:rPr lang="en-GB" sz="1300" b="0" dirty="0">
                <a:solidFill>
                  <a:srgbClr val="14171C"/>
                </a:solidFill>
                <a:latin typeface="Helvetica Neue"/>
              </a:rPr>
              <a:t>Nine outcomes are in scope this cycle and eight of them have been assessed, so this is a partial picture and should be read as one. Of what we have looked at, six fall short of the target we set. The distance is not evenly spread. Two sit at Not Achieved against a target we chose deliberately, which means the work has not started rather than that it is going slowly: encryption of data at rest, and supply-chain risk management. A third — our risk-assessment outcome — carries a full-size gap for a different reason, that we have not assessed it yet, and it would be wrong to read that as a finding. The remaining three are under way rather than unstarted — one sits a single step from target and two are two steps away — and are the most likely to close inside the next cycle. We are asking for one decision today: fund the encryption programme, or record that the board accepts data-at-rest exposure for another two quarters.</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Framework posture — Outcomes short of target (1)</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228600" indent="-228600">
              <a:spcAft>
                <a:spcPts val="700"/>
              </a:spcAft>
              <a:buFont typeface="Arial"/>
              <a:buChar char="•"/>
            </a:pPr>
            <a:r>
              <a:rPr lang="en-GB" sz="1150" b="0" dirty="0">
                <a:solidFill>
                  <a:srgbClr val="14171C"/>
                </a:solidFill>
                <a:latin typeface="Helvetica Neue"/>
              </a:rPr>
              <a:t>PR.DS-01: Data at rest and in transit is at Not Achieved against a target of Fully Achieved — the widest gap in the scope, and the one most likely to be asked about first after an incident, because it decides whether a stolen disk is an inconvenience or a notification.</a:t>
            </a:r>
          </a:p>
          <a:p>
            <a:pPr marL="228600" indent="-228600">
              <a:spcAft>
                <a:spcPts val="700"/>
              </a:spcAft>
              <a:buFont typeface="Arial"/>
              <a:buChar char="•"/>
            </a:pPr>
            <a:r>
              <a:rPr lang="en-GB" sz="1150" b="0" dirty="0">
                <a:solidFill>
                  <a:srgbClr val="14171C"/>
                </a:solidFill>
                <a:latin typeface="Helvetica Neue"/>
              </a:rPr>
              <a:t>GV.SC-01: There is no supply-chain risk management programme, and that governs what every other control here is worth: a standard we hold ourselves to and do not hold a vendor to is a standard with a gap in it.</a:t>
            </a:r>
          </a:p>
          <a:p>
            <a:pPr marL="228600" indent="-228600">
              <a:spcAft>
                <a:spcPts val="700"/>
              </a:spcAft>
              <a:buFont typeface="Arial"/>
              <a:buChar char="•"/>
            </a:pPr>
            <a:r>
              <a:rPr lang="en-GB" sz="1150" b="0" dirty="0">
                <a:solidFill>
                  <a:srgbClr val="14171C"/>
                </a:solidFill>
                <a:latin typeface="Helvetica Neue"/>
              </a:rPr>
              <a:t>ID.RA-01: This outcome has not been assessed yet, so it shows the full distance to target. That is a gap in what we know, not a finding about the control — assessing it is the work, and it should not be read alongside the two outcomes we did assess and found absent.</a:t>
            </a:r>
          </a:p>
          <a:p>
            <a:pPr marL="228600" indent="-228600">
              <a:spcAft>
                <a:spcPts val="700"/>
              </a:spcAft>
              <a:buFont typeface="Arial"/>
              <a:buChar char="•"/>
            </a:pPr>
            <a:r>
              <a:rPr lang="en-GB" sz="1150" b="0" dirty="0">
                <a:solidFill>
                  <a:srgbClr val="14171C"/>
                </a:solidFill>
                <a:latin typeface="Helvetica Neue"/>
              </a:rPr>
              <a:t>GV.RM-01: Risk management objectives are written but not yet agreed with the leadership who own the trade-offs, so the register records our judgement rather than the organisation's.</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Framework posture — Outcomes short of target (2)</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228600" indent="-228600">
              <a:spcAft>
                <a:spcPts val="700"/>
              </a:spcAft>
              <a:buFont typeface="Arial"/>
              <a:buChar char="•"/>
            </a:pPr>
            <a:r>
              <a:rPr lang="en-GB" sz="1150" b="0" dirty="0">
                <a:solidFill>
                  <a:srgbClr val="14171C"/>
                </a:solidFill>
                <a:latin typeface="Helvetica Neue"/>
              </a:rPr>
              <a:t>PR.AA-01: Identity and credential management is two steps short of target: the practice is in place but not applied consistently across services and hardware, which leaves the exceptions as the attack path.</a:t>
            </a:r>
          </a:p>
          <a:p>
            <a:pPr marL="228600" indent="-228600">
              <a:spcAft>
                <a:spcPts val="700"/>
              </a:spcAft>
              <a:buFont typeface="Arial"/>
              <a:buChar char="•"/>
            </a:pPr>
            <a:r>
              <a:rPr lang="en-GB" sz="1150" b="0" dirty="0">
                <a:solidFill>
                  <a:srgbClr val="14171C"/>
                </a:solidFill>
                <a:latin typeface="Helvetica Neue"/>
              </a:rPr>
              <a:t>GV.OC-01: Organisational mission is understood and already informs risk decisions. This is the closest to target and needs consolidation rather than investment.</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 backdrop"/>
          <p:cNvSpPr/>
          <p:nvPr/>
        </p:nvSpPr>
        <p:spPr>
          <a:xfrm>
            <a:off x="0" y="0"/>
            <a:ext cx="12191695" cy="6858000"/>
          </a:xfrm>
          <a:prstGeom prst="rect">
            <a:avLst/>
          </a:prstGeom>
          <a:solidFill>
            <a:srgbClr val="14171C"/>
          </a:solidFill>
          <a:ln>
            <a:noFill/>
          </a:ln>
        </p:spPr>
        <p:txBody>
          <a:bodyPr/>
          <a:lstStyle/>
          <a:p/>
        </p:txBody>
      </p:sp>
      <p:sp>
        <p:nvSpPr>
          <p:cNvPr id="3" name="Section label"/>
          <p:cNvSpPr txBox="1"/>
          <p:nvPr/>
        </p:nvSpPr>
        <p:spPr>
          <a:xfrm>
            <a:off x="685800" y="2606040"/>
            <a:ext cx="10820095" cy="1097280"/>
          </a:xfrm>
          <a:prstGeom prst="rect">
            <a:avLst/>
          </a:prstGeom>
          <a:noFill/>
        </p:spPr>
        <p:txBody>
          <a:bodyPr wrap="square" lIns="0" tIns="0" rIns="0" bIns="0">
            <a:normAutofit/>
          </a:bodyPr>
          <a:lstStyle/>
          <a:p>
            <a:pPr marL="0" indent="0">
              <a:spcAft>
                <a:spcPts val="0"/>
              </a:spcAft>
              <a:buNone/>
            </a:pPr>
            <a:r>
              <a:rPr lang="en-GB" sz="3200" b="1" dirty="0">
                <a:solidFill>
                  <a:srgbClr val="EAE7DF"/>
                </a:solidFill>
                <a:latin typeface="Helvetica Neue"/>
              </a:rPr>
              <a:t>Risk</a:t>
            </a:r>
          </a:p>
        </p:txBody>
      </p:sp>
      <p:sp>
        <p:nvSpPr>
          <p:cNvPr id="4" name="Section rule"/>
          <p:cNvSpPr/>
          <p:nvPr/>
        </p:nvSpPr>
        <p:spPr>
          <a:xfrm>
            <a:off x="685800" y="3977639"/>
            <a:ext cx="1097280" cy="38100"/>
          </a:xfrm>
          <a:prstGeom prst="rect">
            <a:avLst/>
          </a:prstGeom>
          <a:solidFill>
            <a:srgbClr val="2FA98C"/>
          </a:solidFill>
          <a:ln>
            <a:noFill/>
          </a:ln>
        </p:spPr>
        <p:txBody>
          <a:bodyPr/>
          <a:lstStyle/>
          <a:p/>
        </p:txBody>
      </p:sp>
      <p:sp>
        <p:nvSpPr>
          <p:cNvPr id="5" name="Section counter"/>
          <p:cNvSpPr txBox="1"/>
          <p:nvPr/>
        </p:nvSpPr>
        <p:spPr>
          <a:xfrm>
            <a:off x="685800" y="4251960"/>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9AA0A6"/>
                </a:solidFill>
                <a:latin typeface="Helvetica Neue"/>
              </a:rPr>
              <a:t>Section 2 of 7</a:t>
            </a:r>
          </a:p>
        </p:txBody>
      </p:sp>
      <p:sp>
        <p:nvSpPr>
          <p:cNvPr id="6" name="Footer spark"/>
          <p:cNvSpPr/>
          <p:nvPr/>
        </p:nvSpPr>
        <p:spPr>
          <a:xfrm>
            <a:off x="685800" y="6304788"/>
            <a:ext cx="118872" cy="118872"/>
          </a:xfrm>
          <a:prstGeom prst="diamond">
            <a:avLst/>
          </a:prstGeom>
          <a:solidFill>
            <a:srgbClr val="2FA98C"/>
          </a:solidFill>
          <a:ln>
            <a:noFill/>
          </a:ln>
        </p:spPr>
        <p:txBody>
          <a:bodyPr/>
          <a:lstStyle/>
          <a:p/>
        </p:txBody>
      </p:sp>
      <p:sp>
        <p:nvSpPr>
          <p:cNvPr id="7"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9AA0A6"/>
                </a:solidFill>
                <a:latin typeface="Helvetica Neue"/>
              </a:rPr>
              <a:t>A Cyber Aware Creation · Not affiliated with NIST · as at 2026-07-31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Risk</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0" indent="0">
              <a:spcAft>
                <a:spcPts val="700"/>
              </a:spcAft>
              <a:buNone/>
            </a:pPr>
            <a:r>
              <a:rPr lang="en-GB" sz="1300" b="0" dirty="0">
                <a:solidFill>
                  <a:srgbClr val="14171C"/>
                </a:solidFill>
                <a:latin typeface="Helvetica Neue"/>
              </a:rPr>
              <a:t>Two of our eleven tracked risks sit above the appetite the board set, down from three at the Q3 review — the direction is right, but the composition changed. Ransomware exposure through the internet-facing VPN appliance came down after an emergency patch and is now within appetite. Payment fraud moved the other way: two further supplier-invoice fraud attempts landed this quarter and email authentication is still not enforcing, so that risk rose from High to Critical and now sits alongside the third-party CRM exposure. Two accepted risks passed their re-validation date and need the board to either renew or withdraw the acceptance, and two risks are past their scheduled review. We are asking for two decisions today: fund DMARC enforcement to close the payment-fraud path, and renew or withdraw the two lapsed acceptances.</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Risk — Risks (1)</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228600" indent="-228600">
              <a:spcAft>
                <a:spcPts val="700"/>
              </a:spcAft>
              <a:buFont typeface="Arial"/>
              <a:buChar char="•"/>
            </a:pPr>
            <a:r>
              <a:rPr lang="en-GB" sz="1150" b="0" dirty="0">
                <a:solidFill>
                  <a:srgbClr val="14171C"/>
                </a:solidFill>
                <a:latin typeface="Helvetica Neue"/>
              </a:rPr>
              <a:t>R-003: A breach at the CRM vendor would expose customer records we do not directly control. The insurance rider moves the financial loss but not the regulatory notification duty or the customer-facing consequence, so this stays above appetite regardless of the transfer.</a:t>
            </a:r>
          </a:p>
          <a:p>
            <a:pPr marL="228600" indent="-228600">
              <a:spcAft>
                <a:spcPts val="700"/>
              </a:spcAft>
              <a:buFont typeface="Arial"/>
              <a:buChar char="•"/>
            </a:pPr>
            <a:r>
              <a:rPr lang="en-GB" sz="1150" b="0" dirty="0">
                <a:solidFill>
                  <a:srgbClr val="14171C"/>
                </a:solidFill>
                <a:latin typeface="Helvetica Neue"/>
              </a:rPr>
              <a:t>R-007: An attacker impersonating a supplier can redirect a live payment before anyone notices. Two attempts landed this quarter; callback verification caught both, but that control is a person on a phone, not a system. Until email authentication enforces, the next attempt only has to beat one person having a bad day.</a:t>
            </a:r>
          </a:p>
          <a:p>
            <a:pPr marL="228600" indent="-228600">
              <a:spcAft>
                <a:spcPts val="700"/>
              </a:spcAft>
              <a:buFont typeface="Arial"/>
              <a:buChar char="•"/>
            </a:pPr>
            <a:r>
              <a:rPr lang="en-GB" sz="1150" b="0" dirty="0">
                <a:solidFill>
                  <a:srgbClr val="14171C"/>
                </a:solidFill>
                <a:latin typeface="Helvetica Neue"/>
              </a:rPr>
              <a:t>R-006: An unpatched internet-facing appliance is the most direct route to enterprise-wide ransomware. The emergency patch closed the immediate path and brought this within appetite; the network segmentation that would keep it there is still unfunded.</a:t>
            </a:r>
          </a:p>
          <a:p>
            <a:pPr marL="228600" indent="-228600">
              <a:spcAft>
                <a:spcPts val="700"/>
              </a:spcAft>
              <a:buFont typeface="Arial"/>
              <a:buChar char="•"/>
            </a:pPr>
            <a:r>
              <a:rPr lang="en-GB" sz="1150" b="0" dirty="0">
                <a:solidFill>
                  <a:srgbClr val="14171C"/>
                </a:solidFill>
                <a:latin typeface="Helvetica Neue"/>
              </a:rPr>
              <a:t>R-008: Regulated customer data can leave through unmanaged endpoints with no detective control in the path, and the risk has no named owner — which means nobody is accountable for closing it.</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Risk — Risks (2)</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228600" indent="-228600">
              <a:spcAft>
                <a:spcPts val="700"/>
              </a:spcAft>
              <a:buFont typeface="Arial"/>
              <a:buChar char="•"/>
            </a:pPr>
            <a:r>
              <a:rPr lang="en-GB" sz="1150" b="0" dirty="0">
                <a:solidFill>
                  <a:srgbClr val="14171C"/>
                </a:solidFill>
                <a:latin typeface="Helvetica Neue"/>
              </a:rPr>
              <a:t>R-001: Stolen administrator credentials are the difference between an incident and an outage. Privileged access management has already cut the blast radius; this is now a managed risk rather than an open one.</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Risk — Themes</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228600" indent="-228600">
              <a:spcAft>
                <a:spcPts val="700"/>
              </a:spcAft>
              <a:buFont typeface="Arial"/>
              <a:buChar char="•"/>
            </a:pPr>
            <a:r>
              <a:rPr lang="en-GB" sz="1150" b="0" dirty="0">
                <a:solidFill>
                  <a:srgbClr val="14171C"/>
                </a:solidFill>
                <a:latin typeface="Helvetica Neue"/>
              </a:rPr>
              <a:t>identity: Identity is where our exposure grew this quarter — payment fraud outweighed the gains from privileged access management.</a:t>
            </a:r>
          </a:p>
          <a:p>
            <a:pPr marL="228600" indent="-228600">
              <a:spcAft>
                <a:spcPts val="700"/>
              </a:spcAft>
              <a:buFont typeface="Arial"/>
              <a:buChar char="•"/>
            </a:pPr>
            <a:r>
              <a:rPr lang="en-GB" sz="1150" b="0" dirty="0">
                <a:solidFill>
                  <a:srgbClr val="14171C"/>
                </a:solidFill>
                <a:latin typeface="Helvetica Neue"/>
              </a:rPr>
              <a:t>third-party: Vendor exposure is unchanged and remains our single largest residual risk.</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 backdrop"/>
          <p:cNvSpPr/>
          <p:nvPr/>
        </p:nvSpPr>
        <p:spPr>
          <a:xfrm>
            <a:off x="0" y="0"/>
            <a:ext cx="12191695" cy="6858000"/>
          </a:xfrm>
          <a:prstGeom prst="rect">
            <a:avLst/>
          </a:prstGeom>
          <a:solidFill>
            <a:srgbClr val="14171C"/>
          </a:solidFill>
          <a:ln>
            <a:noFill/>
          </a:ln>
        </p:spPr>
        <p:txBody>
          <a:bodyPr/>
          <a:lstStyle/>
          <a:p/>
        </p:txBody>
      </p:sp>
      <p:sp>
        <p:nvSpPr>
          <p:cNvPr id="3" name="Section label"/>
          <p:cNvSpPr txBox="1"/>
          <p:nvPr/>
        </p:nvSpPr>
        <p:spPr>
          <a:xfrm>
            <a:off x="685800" y="2606040"/>
            <a:ext cx="10820095" cy="1097280"/>
          </a:xfrm>
          <a:prstGeom prst="rect">
            <a:avLst/>
          </a:prstGeom>
          <a:noFill/>
        </p:spPr>
        <p:txBody>
          <a:bodyPr wrap="square" lIns="0" tIns="0" rIns="0" bIns="0">
            <a:normAutofit/>
          </a:bodyPr>
          <a:lstStyle/>
          <a:p>
            <a:pPr marL="0" indent="0">
              <a:spcAft>
                <a:spcPts val="0"/>
              </a:spcAft>
              <a:buNone/>
            </a:pPr>
            <a:r>
              <a:rPr lang="en-GB" sz="3200" b="1" dirty="0">
                <a:solidFill>
                  <a:srgbClr val="EAE7DF"/>
                </a:solidFill>
                <a:latin typeface="Helvetica Neue"/>
              </a:rPr>
              <a:t>Third parties</a:t>
            </a:r>
          </a:p>
        </p:txBody>
      </p:sp>
      <p:sp>
        <p:nvSpPr>
          <p:cNvPr id="4" name="Section rule"/>
          <p:cNvSpPr/>
          <p:nvPr/>
        </p:nvSpPr>
        <p:spPr>
          <a:xfrm>
            <a:off x="685800" y="3977639"/>
            <a:ext cx="1097280" cy="38100"/>
          </a:xfrm>
          <a:prstGeom prst="rect">
            <a:avLst/>
          </a:prstGeom>
          <a:solidFill>
            <a:srgbClr val="2FA98C"/>
          </a:solidFill>
          <a:ln>
            <a:noFill/>
          </a:ln>
        </p:spPr>
        <p:txBody>
          <a:bodyPr/>
          <a:lstStyle/>
          <a:p/>
        </p:txBody>
      </p:sp>
      <p:sp>
        <p:nvSpPr>
          <p:cNvPr id="5" name="Section counter"/>
          <p:cNvSpPr txBox="1"/>
          <p:nvPr/>
        </p:nvSpPr>
        <p:spPr>
          <a:xfrm>
            <a:off x="685800" y="4251960"/>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9AA0A6"/>
                </a:solidFill>
                <a:latin typeface="Helvetica Neue"/>
              </a:rPr>
              <a:t>Section 3 of 7</a:t>
            </a:r>
          </a:p>
        </p:txBody>
      </p:sp>
      <p:sp>
        <p:nvSpPr>
          <p:cNvPr id="6" name="Footer spark"/>
          <p:cNvSpPr/>
          <p:nvPr/>
        </p:nvSpPr>
        <p:spPr>
          <a:xfrm>
            <a:off x="685800" y="6304788"/>
            <a:ext cx="118872" cy="118872"/>
          </a:xfrm>
          <a:prstGeom prst="diamond">
            <a:avLst/>
          </a:prstGeom>
          <a:solidFill>
            <a:srgbClr val="2FA98C"/>
          </a:solidFill>
          <a:ln>
            <a:noFill/>
          </a:ln>
        </p:spPr>
        <p:txBody>
          <a:bodyPr/>
          <a:lstStyle/>
          <a:p/>
        </p:txBody>
      </p:sp>
      <p:sp>
        <p:nvSpPr>
          <p:cNvPr id="7"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9AA0A6"/>
                </a:solidFill>
                <a:latin typeface="Helvetica Neue"/>
              </a:rPr>
              <a:t>A Cyber Aware Creation · Not affiliated with NIST · as at 2026-07-31</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Third parties</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0" indent="0">
              <a:spcAft>
                <a:spcPts val="700"/>
              </a:spcAft>
              <a:buNone/>
            </a:pPr>
            <a:r>
              <a:rPr lang="en-GB" sz="1300" b="0" dirty="0">
                <a:solidFill>
                  <a:srgbClr val="14171C"/>
                </a:solidFill>
                <a:latin typeface="Helvetica Neue"/>
              </a:rPr>
              <a:t>Five arrangements carry the group's outsourced dependencies, and two of them we cannot yet explain. The plant historian runs on Contoso and has never been exercised as an exit, which is the single dependency that stops both production lines. Two further arrangements support systems nobody has traced to a business workflow, so we are carrying them without being able to say what they hold up.</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Third parties — positive risk</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0" indent="0">
              <a:spcAft>
                <a:spcPts val="700"/>
              </a:spcAft>
              <a:buNone/>
            </a:pPr>
            <a:r>
              <a:rPr lang="en-GB" sz="1000" b="0" dirty="0">
                <a:solidFill>
                  <a:srgbClr val="4A4F58"/>
                </a:solidFill>
                <a:latin typeface="Helvetica Neue"/>
              </a:rPr>
              <a:t>What good would unlock, each against a declared goal.</a:t>
            </a:r>
          </a:p>
          <a:p>
            <a:pPr marL="228600" indent="-228600">
              <a:spcAft>
                <a:spcPts val="700"/>
              </a:spcAft>
              <a:buFont typeface="Arial"/>
              <a:buChar char="•"/>
            </a:pPr>
            <a:r>
              <a:rPr lang="en-GB" sz="1150" b="0" dirty="0">
                <a:solidFill>
                  <a:srgbClr val="14171C"/>
                </a:solidFill>
                <a:latin typeface="Helvetica Neue"/>
              </a:rPr>
              <a:t>A tested exit on the plant historian is what makes the Dublin renewal negotiable: today the supplier knows it holds the group's single production dependency and that we have never demonstrated leaving.  ·  cites goal:Close the Dublin authorisation year without a supervisory finding</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Third parties — Arrangements</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228600" indent="-228600">
              <a:spcAft>
                <a:spcPts val="700"/>
              </a:spcAft>
              <a:buFont typeface="Arial"/>
              <a:buChar char="•"/>
            </a:pPr>
            <a:r>
              <a:rPr lang="en-GB" sz="1150" b="0" dirty="0">
                <a:solidFill>
                  <a:srgbClr val="14171C"/>
                </a:solidFill>
                <a:latin typeface="Helvetica Neue"/>
              </a:rPr>
              <a:t>VA-001: Production hosting for the plant historian. A day of lost output is roughly a week of aftermarket margin, and the exit strategy has been written but never exercised — so the plan to leave is a document, not a demonstrated capability. The assessment is also past its annual cadence.</a:t>
            </a:r>
          </a:p>
          <a:p>
            <a:pPr marL="228600" indent="-228600">
              <a:spcAft>
                <a:spcPts val="700"/>
              </a:spcAft>
              <a:buFont typeface="Arial"/>
              <a:buChar char="•"/>
            </a:pPr>
            <a:r>
              <a:rPr lang="en-GB" sz="1150" b="0" dirty="0">
                <a:solidFill>
                  <a:srgbClr val="14171C"/>
                </a:solidFill>
                <a:latin typeface="Helvetica Neue"/>
              </a:rPr>
              <a:t>VA-002: CRM hosting. The dependency traces to a system the business calls critical, but the arrangement owner has assigned a lower level on the basis that renewals continue offline for a fortnight. That disagreement is recorded rather than resolved: the trace and the owner are looking at different things, and both are on the page.</a:t>
            </a:r>
          </a:p>
          <a:p>
            <a:pPr marL="228600" indent="-228600">
              <a:spcAft>
                <a:spcPts val="700"/>
              </a:spcAft>
              <a:buFont typeface="Arial"/>
              <a:buChar char="•"/>
            </a:pPr>
            <a:r>
              <a:rPr lang="en-GB" sz="1150" b="0" dirty="0">
                <a:solidFill>
                  <a:srgbClr val="14171C"/>
                </a:solidFill>
                <a:latin typeface="Helvetica Neue"/>
              </a:rPr>
              <a:t>VA-003: The marketing attribution sandbox supports nothing we have declared, so its criticality is untraced rather than low. A fourth party was introduced into its chain in June without notice, which is the kind of change a low-criticality arrangement has no cadence to catch.</a:t>
            </a:r>
          </a:p>
          <a:p>
            <a:pPr marL="228600" indent="-228600">
              <a:spcAft>
                <a:spcPts val="700"/>
              </a:spcAft>
              <a:buFont typeface="Arial"/>
              <a:buChar char="•"/>
            </a:pPr>
            <a:r>
              <a:rPr lang="en-GB" sz="1150" b="0" dirty="0">
                <a:solidFill>
                  <a:srgbClr val="14171C"/>
                </a:solidFill>
                <a:latin typeface="Helvetica Neue"/>
              </a:rPr>
              <a:t>VA-005: Replacement warehouse routing, opened when the Tailspin arrangement was retired in March. The predecessor's data return and deletion are closed and recorded against it. This one has not yet been traced to a workflow.</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 backdrop"/>
          <p:cNvSpPr/>
          <p:nvPr/>
        </p:nvSpPr>
        <p:spPr>
          <a:xfrm>
            <a:off x="0" y="0"/>
            <a:ext cx="12191695" cy="6858000"/>
          </a:xfrm>
          <a:prstGeom prst="rect">
            <a:avLst/>
          </a:prstGeom>
          <a:solidFill>
            <a:srgbClr val="14171C"/>
          </a:solidFill>
          <a:ln>
            <a:noFill/>
          </a:ln>
        </p:spPr>
        <p:txBody>
          <a:bodyPr/>
          <a:lstStyle/>
          <a:p/>
        </p:txBody>
      </p:sp>
      <p:sp>
        <p:nvSpPr>
          <p:cNvPr id="3" name="Section label"/>
          <p:cNvSpPr txBox="1"/>
          <p:nvPr/>
        </p:nvSpPr>
        <p:spPr>
          <a:xfrm>
            <a:off x="685800" y="2606040"/>
            <a:ext cx="10820095" cy="1097280"/>
          </a:xfrm>
          <a:prstGeom prst="rect">
            <a:avLst/>
          </a:prstGeom>
          <a:noFill/>
        </p:spPr>
        <p:txBody>
          <a:bodyPr wrap="square" lIns="0" tIns="0" rIns="0" bIns="0">
            <a:normAutofit/>
          </a:bodyPr>
          <a:lstStyle/>
          <a:p>
            <a:pPr marL="0" indent="0">
              <a:spcAft>
                <a:spcPts val="0"/>
              </a:spcAft>
              <a:buNone/>
            </a:pPr>
            <a:r>
              <a:rPr lang="en-GB" sz="3200" b="1" dirty="0">
                <a:solidFill>
                  <a:srgbClr val="EAE7DF"/>
                </a:solidFill>
                <a:latin typeface="Helvetica Neue"/>
              </a:rPr>
              <a:t>Artificial intelligence</a:t>
            </a:r>
          </a:p>
        </p:txBody>
      </p:sp>
      <p:sp>
        <p:nvSpPr>
          <p:cNvPr id="4" name="Section rule"/>
          <p:cNvSpPr/>
          <p:nvPr/>
        </p:nvSpPr>
        <p:spPr>
          <a:xfrm>
            <a:off x="685800" y="3977639"/>
            <a:ext cx="1097280" cy="38100"/>
          </a:xfrm>
          <a:prstGeom prst="rect">
            <a:avLst/>
          </a:prstGeom>
          <a:solidFill>
            <a:srgbClr val="2FA98C"/>
          </a:solidFill>
          <a:ln>
            <a:noFill/>
          </a:ln>
        </p:spPr>
        <p:txBody>
          <a:bodyPr/>
          <a:lstStyle/>
          <a:p/>
        </p:txBody>
      </p:sp>
      <p:sp>
        <p:nvSpPr>
          <p:cNvPr id="5" name="Section counter"/>
          <p:cNvSpPr txBox="1"/>
          <p:nvPr/>
        </p:nvSpPr>
        <p:spPr>
          <a:xfrm>
            <a:off x="685800" y="4251960"/>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9AA0A6"/>
                </a:solidFill>
                <a:latin typeface="Helvetica Neue"/>
              </a:rPr>
              <a:t>Section 4 of 7</a:t>
            </a:r>
          </a:p>
        </p:txBody>
      </p:sp>
      <p:sp>
        <p:nvSpPr>
          <p:cNvPr id="6" name="Footer spark"/>
          <p:cNvSpPr/>
          <p:nvPr/>
        </p:nvSpPr>
        <p:spPr>
          <a:xfrm>
            <a:off x="685800" y="6304788"/>
            <a:ext cx="118872" cy="118872"/>
          </a:xfrm>
          <a:prstGeom prst="diamond">
            <a:avLst/>
          </a:prstGeom>
          <a:solidFill>
            <a:srgbClr val="2FA98C"/>
          </a:solidFill>
          <a:ln>
            <a:noFill/>
          </a:ln>
        </p:spPr>
        <p:txBody>
          <a:bodyPr/>
          <a:lstStyle/>
          <a:p/>
        </p:txBody>
      </p:sp>
      <p:sp>
        <p:nvSpPr>
          <p:cNvPr id="7"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9AA0A6"/>
                </a:solidFill>
                <a:latin typeface="Helvetica Neue"/>
              </a:rPr>
              <a:t>A Cyber Aware Creation · Not affiliated with NIST · as at 2026-07-31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Artificial intelligence</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0" indent="0">
              <a:spcAft>
                <a:spcPts val="700"/>
              </a:spcAft>
              <a:buNone/>
            </a:pPr>
            <a:r>
              <a:rPr lang="en-GB" sz="1300" b="0" dirty="0">
                <a:solidFill>
                  <a:srgbClr val="14171C"/>
                </a:solidFill>
                <a:latin typeface="Helvetica Neue"/>
              </a:rPr>
              <a:t>Five AI deployments run across four systems, and the two facts worth the board's time are both about change rather than about models. Contoso re-based the assistant that screens job applicants onto a different foundation model in June and left the product version number unchanged; every answer in our April assessment was about a different model, and nothing except this register noticed. Separately, a writing tool nobody approved is drafting customer-facing proposals — found in a CASB review in May, in this register the same day, and still in use. Neither is a failure of a control. Both are the same gap: things change under us faster than the cycle that looks at them.</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Artificial intelligence — Deployments (1)</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228600" indent="-228600">
              <a:spcAft>
                <a:spcPts val="700"/>
              </a:spcAft>
              <a:buFont typeface="Arial"/>
              <a:buChar char="•"/>
            </a:pPr>
            <a:r>
              <a:rPr lang="en-GB" sz="1150" b="0" dirty="0">
                <a:solidFill>
                  <a:srgbClr val="14171C"/>
                </a:solidFill>
                <a:latin typeface="Helvetica Neue"/>
              </a:rPr>
              <a:t>D-001: Screens job applicants and produces the decision, on regulated personal data. It is the most assessed thing here — a red-team report, a signed no-training commitment, controls recorded against integrity and privacy — and the assessment was made against a base model the provider has since replaced. What we know about it is real and is now a quarter out of date.</a:t>
            </a:r>
          </a:p>
          <a:p>
            <a:pPr marL="228600" indent="-228600">
              <a:spcAft>
                <a:spcPts val="700"/>
              </a:spcAft>
              <a:buFont typeface="Arial"/>
              <a:buChar char="•"/>
            </a:pPr>
            <a:r>
              <a:rPr lang="en-GB" sz="1150" b="0" dirty="0">
                <a:solidFill>
                  <a:srgbClr val="14171C"/>
                </a:solidFill>
                <a:latin typeface="Helvetica Neue"/>
              </a:rPr>
              <a:t>D-002: Drafts marketing copy on the same assistant. A person edits everything before it leaves, so it is the one deployment here where the low level is the whole story.</a:t>
            </a:r>
          </a:p>
          <a:p>
            <a:pPr marL="228600" indent="-228600">
              <a:spcAft>
                <a:spcPts val="700"/>
              </a:spcAft>
              <a:buFont typeface="Arial"/>
              <a:buChar char="•"/>
            </a:pPr>
            <a:r>
              <a:rPr lang="en-GB" sz="1150" b="0" dirty="0">
                <a:solidFill>
                  <a:srgbClr val="14171C"/>
                </a:solidFill>
                <a:latin typeface="Helvetica Neue"/>
              </a:rPr>
              <a:t>D-003: Scores churn for the renewals desk, who work the list every morning. It has not been assessed since June last year, which is past the annual cadence for its level.</a:t>
            </a:r>
          </a:p>
          <a:p>
            <a:pPr marL="228600" indent="-228600">
              <a:spcAft>
                <a:spcPts val="700"/>
              </a:spcAft>
              <a:buFont typeface="Arial"/>
              <a:buChar char="•"/>
            </a:pPr>
            <a:r>
              <a:rPr lang="en-GB" sz="1150" b="0" dirty="0">
                <a:solidFill>
                  <a:srgbClr val="14171C"/>
                </a:solidFill>
                <a:latin typeface="Helvetica Neue"/>
              </a:rPr>
              <a:t>D-004: Auto-remediates low-severity tickets without a person in the loop. It was assessed in March against two connected systems; it reaches three now, and the third is the change queue. What a deployment can reach is what bounds the damage, so it was assessed as a smaller thing than the one running today.</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Artificial intelligence — Deployments (2)</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228600" indent="-228600">
              <a:spcAft>
                <a:spcPts val="700"/>
              </a:spcAft>
              <a:buFont typeface="Arial"/>
              <a:buChar char="•"/>
            </a:pPr>
            <a:r>
              <a:rPr lang="en-GB" sz="1150" b="0" dirty="0">
                <a:solidFill>
                  <a:srgbClr val="14171C"/>
                </a:solidFill>
                <a:latin typeface="Helvetica Neue"/>
              </a:rPr>
              <a:t>D-005: Drafts customer-facing proposals on a tool nobody sanctioned, found in a CASB egress review in May. Nobody has declared what it supports, so its criticality is untraced rather than low — we cannot yet say what would be affected if it were wrong, and it is writing to customers.</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 backdrop"/>
          <p:cNvSpPr/>
          <p:nvPr/>
        </p:nvSpPr>
        <p:spPr>
          <a:xfrm>
            <a:off x="0" y="0"/>
            <a:ext cx="12191695" cy="6858000"/>
          </a:xfrm>
          <a:prstGeom prst="rect">
            <a:avLst/>
          </a:prstGeom>
          <a:solidFill>
            <a:srgbClr val="14171C"/>
          </a:solidFill>
          <a:ln>
            <a:noFill/>
          </a:ln>
        </p:spPr>
        <p:txBody>
          <a:bodyPr/>
          <a:lstStyle/>
          <a:p/>
        </p:txBody>
      </p:sp>
      <p:sp>
        <p:nvSpPr>
          <p:cNvPr id="3" name="Section label"/>
          <p:cNvSpPr txBox="1"/>
          <p:nvPr/>
        </p:nvSpPr>
        <p:spPr>
          <a:xfrm>
            <a:off x="685800" y="2606040"/>
            <a:ext cx="10820095" cy="1097280"/>
          </a:xfrm>
          <a:prstGeom prst="rect">
            <a:avLst/>
          </a:prstGeom>
          <a:noFill/>
        </p:spPr>
        <p:txBody>
          <a:bodyPr wrap="square" lIns="0" tIns="0" rIns="0" bIns="0">
            <a:normAutofit/>
          </a:bodyPr>
          <a:lstStyle/>
          <a:p>
            <a:pPr marL="0" indent="0">
              <a:spcAft>
                <a:spcPts val="0"/>
              </a:spcAft>
              <a:buNone/>
            </a:pPr>
            <a:r>
              <a:rPr lang="en-GB" sz="3200" b="1" dirty="0">
                <a:solidFill>
                  <a:srgbClr val="EAE7DF"/>
                </a:solidFill>
                <a:latin typeface="Helvetica Neue"/>
              </a:rPr>
              <a:t>Metrics</a:t>
            </a:r>
          </a:p>
        </p:txBody>
      </p:sp>
      <p:sp>
        <p:nvSpPr>
          <p:cNvPr id="4" name="Section rule"/>
          <p:cNvSpPr/>
          <p:nvPr/>
        </p:nvSpPr>
        <p:spPr>
          <a:xfrm>
            <a:off x="685800" y="3977639"/>
            <a:ext cx="1097280" cy="38100"/>
          </a:xfrm>
          <a:prstGeom prst="rect">
            <a:avLst/>
          </a:prstGeom>
          <a:solidFill>
            <a:srgbClr val="2FA98C"/>
          </a:solidFill>
          <a:ln>
            <a:noFill/>
          </a:ln>
        </p:spPr>
        <p:txBody>
          <a:bodyPr/>
          <a:lstStyle/>
          <a:p/>
        </p:txBody>
      </p:sp>
      <p:sp>
        <p:nvSpPr>
          <p:cNvPr id="5" name="Section counter"/>
          <p:cNvSpPr txBox="1"/>
          <p:nvPr/>
        </p:nvSpPr>
        <p:spPr>
          <a:xfrm>
            <a:off x="685800" y="4251960"/>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9AA0A6"/>
                </a:solidFill>
                <a:latin typeface="Helvetica Neue"/>
              </a:rPr>
              <a:t>Section 5 of 7</a:t>
            </a:r>
          </a:p>
        </p:txBody>
      </p:sp>
      <p:sp>
        <p:nvSpPr>
          <p:cNvPr id="6" name="Footer spark"/>
          <p:cNvSpPr/>
          <p:nvPr/>
        </p:nvSpPr>
        <p:spPr>
          <a:xfrm>
            <a:off x="685800" y="6304788"/>
            <a:ext cx="118872" cy="118872"/>
          </a:xfrm>
          <a:prstGeom prst="diamond">
            <a:avLst/>
          </a:prstGeom>
          <a:solidFill>
            <a:srgbClr val="2FA98C"/>
          </a:solidFill>
          <a:ln>
            <a:noFill/>
          </a:ln>
        </p:spPr>
        <p:txBody>
          <a:bodyPr/>
          <a:lstStyle/>
          <a:p/>
        </p:txBody>
      </p:sp>
      <p:sp>
        <p:nvSpPr>
          <p:cNvPr id="7"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9AA0A6"/>
                </a:solidFill>
                <a:latin typeface="Helvetica Neue"/>
              </a:rPr>
              <a:t>A Cyber Aware Creation · Not affiliated with NIST · as at 2026-07-31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Metrics</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0" indent="0">
              <a:spcAft>
                <a:spcPts val="700"/>
              </a:spcAft>
              <a:buNone/>
            </a:pPr>
            <a:r>
              <a:rPr lang="en-GB" sz="1300" b="0" dirty="0">
                <a:solidFill>
                  <a:srgbClr val="14171C"/>
                </a:solidFill>
                <a:latin typeface="Helvetica Neue"/>
              </a:rPr>
              <a:t>Six numbers are tracked; three are past the line we set for them and two of those are still moving the wrong way. The pattern is not random. Patching and phishing both worsened this quarter, and they are the two halves of the same route in — a message that gets clicked and a machine that has not been fixed. Identity moved the other way and is now effectively complete, and attacker dwell time is down by three days, so the detection investment is showing. The one that should concern the board most is not the worst number but the oldest: we last tested a backup restore in November, at 40% success, and have not measured it since. That is eight months without evidence on the control that decides whether an incident is a bad week or a business-continuity failure. We are asking for two decisions: fund the patching backlog, and schedule a restore test before the next review.</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Metrics — detail (1)</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228600" indent="-228600">
              <a:spcAft>
                <a:spcPts val="700"/>
              </a:spcAft>
              <a:buFont typeface="Arial"/>
              <a:buChar char="•"/>
            </a:pPr>
            <a:r>
              <a:rPr lang="en-GB" sz="1150" b="0" dirty="0">
                <a:solidFill>
                  <a:srgbClr val="14171C"/>
                </a:solidFill>
                <a:latin typeface="Helvetica Neue"/>
              </a:rPr>
              <a:t>M-006: We last tested backup restores in November, when 40% succeeded, and we have not measured since — eight months without evidence on the control that decides whether a ransomware incident is recoverable. This is a gap in what we know, not a claim that recovery has failed.</a:t>
            </a:r>
          </a:p>
          <a:p>
            <a:pPr marL="228600" indent="-228600">
              <a:spcAft>
                <a:spcPts val="700"/>
              </a:spcAft>
              <a:buFont typeface="Arial"/>
              <a:buChar char="•"/>
            </a:pPr>
            <a:r>
              <a:rPr lang="en-GB" sz="1150" b="0" dirty="0">
                <a:solidFill>
                  <a:srgbClr val="14171C"/>
                </a:solidFill>
                <a:latin typeface="Helvetica Neue"/>
              </a:rPr>
              <a:t>M-001: Critical patches applied inside our own service level fell from 93% to 88%, crossing the 90% line the board agreed. The gap is concentrated in internet-facing systems, which is the population where the number matters most.</a:t>
            </a:r>
          </a:p>
          <a:p>
            <a:pPr marL="228600" indent="-228600">
              <a:spcAft>
                <a:spcPts val="700"/>
              </a:spcAft>
              <a:buFont typeface="Arial"/>
              <a:buChar char="•"/>
            </a:pPr>
            <a:r>
              <a:rPr lang="en-GB" sz="1150" b="0" dirty="0">
                <a:solidFill>
                  <a:srgbClr val="14171C"/>
                </a:solidFill>
                <a:latin typeface="Helvetica Neue"/>
              </a:rPr>
              <a:t>M-003: Simulated phishing click rate rose from 4.1% to 6.8%, past our 6% warning line. Combined with the patching slip above, this is the same attack path getting easier at both ends.</a:t>
            </a:r>
          </a:p>
          <a:p>
            <a:pPr marL="228600" indent="-228600">
              <a:spcAft>
                <a:spcPts val="700"/>
              </a:spcAft>
              <a:buFont typeface="Arial"/>
              <a:buChar char="•"/>
            </a:pPr>
            <a:r>
              <a:rPr lang="en-GB" sz="1150" b="0" dirty="0">
                <a:solidFill>
                  <a:srgbClr val="14171C"/>
                </a:solidFill>
                <a:latin typeface="Helvetica Neue"/>
              </a:rPr>
              <a:t>M-002: Median attacker dwell time came down from 11 days to 8. The detection work is producing the effect it was funded for, and this is the clearest return in the set.</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Metrics — detail (2)</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228600" indent="-228600">
              <a:spcAft>
                <a:spcPts val="700"/>
              </a:spcAft>
              <a:buFont typeface="Arial"/>
              <a:buChar char="•"/>
            </a:pPr>
            <a:r>
              <a:rPr lang="en-GB" sz="1150" b="0" dirty="0">
                <a:solidFill>
                  <a:srgbClr val="14171C"/>
                </a:solidFill>
                <a:latin typeface="Helvetica Neue"/>
              </a:rPr>
              <a:t>M-004: Privileged accounts covered by multi-factor authentication reached 99%, up from 96%. The remaining accounts are service accounts with a documented plan, not oversights.</a:t>
            </a:r>
          </a:p>
          <a:p>
            <a:pPr marL="228600" indent="-228600">
              <a:spcAft>
                <a:spcPts val="700"/>
              </a:spcAft>
              <a:buFont typeface="Arial"/>
              <a:buChar char="•"/>
            </a:pPr>
            <a:r>
              <a:rPr lang="en-GB" sz="1150" b="0" dirty="0">
                <a:solidFill>
                  <a:srgbClr val="14171C"/>
                </a:solidFill>
                <a:latin typeface="Helvetica Neue"/>
              </a:rPr>
              <a:t>M-005: We blocked 2.14 million malicious emails this quarter. This is a volume figure, not a risk figure — it measures how much arrived, not how much got through, and it should not be read as reassurance.</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 backdrop"/>
          <p:cNvSpPr/>
          <p:nvPr/>
        </p:nvSpPr>
        <p:spPr>
          <a:xfrm>
            <a:off x="0" y="0"/>
            <a:ext cx="12191695" cy="6858000"/>
          </a:xfrm>
          <a:prstGeom prst="rect">
            <a:avLst/>
          </a:prstGeom>
          <a:solidFill>
            <a:srgbClr val="14171C"/>
          </a:solidFill>
          <a:ln>
            <a:noFill/>
          </a:ln>
        </p:spPr>
        <p:txBody>
          <a:bodyPr/>
          <a:lstStyle/>
          <a:p/>
        </p:txBody>
      </p:sp>
      <p:sp>
        <p:nvSpPr>
          <p:cNvPr id="3" name="Section label"/>
          <p:cNvSpPr txBox="1"/>
          <p:nvPr/>
        </p:nvSpPr>
        <p:spPr>
          <a:xfrm>
            <a:off x="685800" y="2606040"/>
            <a:ext cx="10820095" cy="1097280"/>
          </a:xfrm>
          <a:prstGeom prst="rect">
            <a:avLst/>
          </a:prstGeom>
          <a:noFill/>
        </p:spPr>
        <p:txBody>
          <a:bodyPr wrap="square" lIns="0" tIns="0" rIns="0" bIns="0">
            <a:normAutofit/>
          </a:bodyPr>
          <a:lstStyle/>
          <a:p>
            <a:pPr marL="0" indent="0">
              <a:spcAft>
                <a:spcPts val="0"/>
              </a:spcAft>
              <a:buNone/>
            </a:pPr>
            <a:r>
              <a:rPr lang="en-GB" sz="3200" b="1" dirty="0">
                <a:solidFill>
                  <a:srgbClr val="EAE7DF"/>
                </a:solidFill>
                <a:latin typeface="Helvetica Neue"/>
              </a:rPr>
              <a:t>Accepted risks and exceptions</a:t>
            </a:r>
          </a:p>
        </p:txBody>
      </p:sp>
      <p:sp>
        <p:nvSpPr>
          <p:cNvPr id="4" name="Section rule"/>
          <p:cNvSpPr/>
          <p:nvPr/>
        </p:nvSpPr>
        <p:spPr>
          <a:xfrm>
            <a:off x="685800" y="3977639"/>
            <a:ext cx="1097280" cy="38100"/>
          </a:xfrm>
          <a:prstGeom prst="rect">
            <a:avLst/>
          </a:prstGeom>
          <a:solidFill>
            <a:srgbClr val="2FA98C"/>
          </a:solidFill>
          <a:ln>
            <a:noFill/>
          </a:ln>
        </p:spPr>
        <p:txBody>
          <a:bodyPr/>
          <a:lstStyle/>
          <a:p/>
        </p:txBody>
      </p:sp>
      <p:sp>
        <p:nvSpPr>
          <p:cNvPr id="5" name="Section counter"/>
          <p:cNvSpPr txBox="1"/>
          <p:nvPr/>
        </p:nvSpPr>
        <p:spPr>
          <a:xfrm>
            <a:off x="685800" y="4251960"/>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9AA0A6"/>
                </a:solidFill>
                <a:latin typeface="Helvetica Neue"/>
              </a:rPr>
              <a:t>Section 6 of 7</a:t>
            </a:r>
          </a:p>
        </p:txBody>
      </p:sp>
      <p:sp>
        <p:nvSpPr>
          <p:cNvPr id="6" name="Footer spark"/>
          <p:cNvSpPr/>
          <p:nvPr/>
        </p:nvSpPr>
        <p:spPr>
          <a:xfrm>
            <a:off x="685800" y="6304788"/>
            <a:ext cx="118872" cy="118872"/>
          </a:xfrm>
          <a:prstGeom prst="diamond">
            <a:avLst/>
          </a:prstGeom>
          <a:solidFill>
            <a:srgbClr val="2FA98C"/>
          </a:solidFill>
          <a:ln>
            <a:noFill/>
          </a:ln>
        </p:spPr>
        <p:txBody>
          <a:bodyPr/>
          <a:lstStyle/>
          <a:p/>
        </p:txBody>
      </p:sp>
      <p:sp>
        <p:nvSpPr>
          <p:cNvPr id="7"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9AA0A6"/>
                </a:solidFill>
                <a:latin typeface="Helvetica Neue"/>
              </a:rPr>
              <a:t>A Cyber Aware Creation · Not affiliated with NIST · as at 2026-07-31</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Accepted risks and exceptions</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0" indent="0">
              <a:spcAft>
                <a:spcPts val="700"/>
              </a:spcAft>
              <a:buNone/>
            </a:pPr>
            <a:r>
              <a:rPr lang="en-GB" sz="1300" b="0" dirty="0">
                <a:solidFill>
                  <a:srgbClr val="14171C"/>
                </a:solidFill>
                <a:latin typeface="Helvetica Neue"/>
              </a:rPr>
              <a:t>We formally accept two residual risks and operate two documented exceptions to our own standards. Three of the four are on schedule. The one that is not is the CRM vendor acceptance, which the board approved last October and which passed its review date in April — four months carrying a decision nobody has re-confirmed. That is the item to deal with today, and the choice is binary: re-validate it on the record, or withdraw the acceptance and fund a different answer. The MFA exception in Finance comes up for review in ten days and expires at the end of November, so it will return to this table either way. Both exceptions have a compensating control in place and named, which is the difference between an exception and a gap.</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Accepted risks and exceptions — Accepted risks</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228600" indent="-228600">
              <a:spcAft>
                <a:spcPts val="700"/>
              </a:spcAft>
              <a:buFont typeface="Arial"/>
              <a:buChar char="•"/>
            </a:pPr>
            <a:r>
              <a:rPr lang="en-GB" sz="1150" b="0" dirty="0">
                <a:solidFill>
                  <a:srgbClr val="14171C"/>
                </a:solidFill>
                <a:latin typeface="Helvetica Neue"/>
              </a:rPr>
              <a:t>A-002: The board accepted in October that customer records sit with our CRM vendor beyond our direct control, on the basis of contractual terms and the insurance rider. That acceptance was due for re-confirmation in April and has not been re-confirmed, so we are four months into carrying a decision on paper that nobody has re-tested against the current facts.</a:t>
            </a:r>
          </a:p>
          <a:p>
            <a:pPr marL="228600" indent="-228600">
              <a:spcAft>
                <a:spcPts val="700"/>
              </a:spcAft>
              <a:buFont typeface="Arial"/>
              <a:buChar char="•"/>
            </a:pPr>
            <a:r>
              <a:rPr lang="en-GB" sz="1150" b="0" dirty="0">
                <a:solidFill>
                  <a:srgbClr val="14171C"/>
                </a:solidFill>
                <a:latin typeface="Helvetica Neue"/>
              </a:rPr>
              <a:t>A-001: We accept a forty-day patch window on nine internet-facing systems because the vendor ships quarterly. Re-validated in July against verified virtual patching, and next due in January.</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Accepted risks and exceptions — Exceptions</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228600" indent="-228600">
              <a:spcAft>
                <a:spcPts val="700"/>
              </a:spcAft>
              <a:buFont typeface="Arial"/>
              <a:buChar char="•"/>
            </a:pPr>
            <a:r>
              <a:rPr lang="en-GB" sz="1150" b="0" dirty="0">
                <a:solidFill>
                  <a:srgbClr val="14171C"/>
                </a:solidFill>
                <a:latin typeface="Helvetica Neue"/>
              </a:rPr>
              <a:t>X-001: Finance operates without phishing-resistant MFA until the ERP upgrade lands, offset by out-of-band callback verification on every payment change above ten thousand. Due for review in ten days and expiring at the end of November.</a:t>
            </a:r>
          </a:p>
          <a:p>
            <a:pPr marL="228600" indent="-228600">
              <a:spcAft>
                <a:spcPts val="700"/>
              </a:spcAft>
              <a:buFont typeface="Arial"/>
              <a:buChar char="•"/>
            </a:pPr>
            <a:r>
              <a:rPr lang="en-GB" sz="1150" b="0" dirty="0">
                <a:solidFill>
                  <a:srgbClr val="14171C"/>
                </a:solidFill>
                <a:latin typeface="Helvetica Neue"/>
              </a:rPr>
              <a:t>X-002: The legacy OT segment runs without endpoint detection because the controller operating system cannot host an agent. It is offset by network segmentation and full flow capture at the boundary, and the replacement sits in the 2027 capital plan.</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 backdrop"/>
          <p:cNvSpPr/>
          <p:nvPr/>
        </p:nvSpPr>
        <p:spPr>
          <a:xfrm>
            <a:off x="0" y="0"/>
            <a:ext cx="12191695" cy="6858000"/>
          </a:xfrm>
          <a:prstGeom prst="rect">
            <a:avLst/>
          </a:prstGeom>
          <a:solidFill>
            <a:srgbClr val="14171C"/>
          </a:solidFill>
          <a:ln>
            <a:noFill/>
          </a:ln>
        </p:spPr>
        <p:txBody>
          <a:bodyPr/>
          <a:lstStyle/>
          <a:p/>
        </p:txBody>
      </p:sp>
      <p:sp>
        <p:nvSpPr>
          <p:cNvPr id="3" name="Section label"/>
          <p:cNvSpPr txBox="1"/>
          <p:nvPr/>
        </p:nvSpPr>
        <p:spPr>
          <a:xfrm>
            <a:off x="685800" y="2606040"/>
            <a:ext cx="10820095" cy="1097280"/>
          </a:xfrm>
          <a:prstGeom prst="rect">
            <a:avLst/>
          </a:prstGeom>
          <a:noFill/>
        </p:spPr>
        <p:txBody>
          <a:bodyPr wrap="square" lIns="0" tIns="0" rIns="0" bIns="0">
            <a:normAutofit/>
          </a:bodyPr>
          <a:lstStyle/>
          <a:p>
            <a:pPr marL="0" indent="0">
              <a:spcAft>
                <a:spcPts val="0"/>
              </a:spcAft>
              <a:buNone/>
            </a:pPr>
            <a:r>
              <a:rPr lang="en-GB" sz="3200" b="1" dirty="0">
                <a:solidFill>
                  <a:srgbClr val="EAE7DF"/>
                </a:solidFill>
                <a:latin typeface="Helvetica Neue"/>
              </a:rPr>
              <a:t>Incidents</a:t>
            </a:r>
          </a:p>
        </p:txBody>
      </p:sp>
      <p:sp>
        <p:nvSpPr>
          <p:cNvPr id="4" name="Section rule"/>
          <p:cNvSpPr/>
          <p:nvPr/>
        </p:nvSpPr>
        <p:spPr>
          <a:xfrm>
            <a:off x="685800" y="3977639"/>
            <a:ext cx="1097280" cy="38100"/>
          </a:xfrm>
          <a:prstGeom prst="rect">
            <a:avLst/>
          </a:prstGeom>
          <a:solidFill>
            <a:srgbClr val="2FA98C"/>
          </a:solidFill>
          <a:ln>
            <a:noFill/>
          </a:ln>
        </p:spPr>
        <p:txBody>
          <a:bodyPr/>
          <a:lstStyle/>
          <a:p/>
        </p:txBody>
      </p:sp>
      <p:sp>
        <p:nvSpPr>
          <p:cNvPr id="5" name="Section counter"/>
          <p:cNvSpPr txBox="1"/>
          <p:nvPr/>
        </p:nvSpPr>
        <p:spPr>
          <a:xfrm>
            <a:off x="685800" y="4251960"/>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9AA0A6"/>
                </a:solidFill>
                <a:latin typeface="Helvetica Neue"/>
              </a:rPr>
              <a:t>Section 7 of 7</a:t>
            </a:r>
          </a:p>
        </p:txBody>
      </p:sp>
      <p:sp>
        <p:nvSpPr>
          <p:cNvPr id="6" name="Footer spark"/>
          <p:cNvSpPr/>
          <p:nvPr/>
        </p:nvSpPr>
        <p:spPr>
          <a:xfrm>
            <a:off x="685800" y="6304788"/>
            <a:ext cx="118872" cy="118872"/>
          </a:xfrm>
          <a:prstGeom prst="diamond">
            <a:avLst/>
          </a:prstGeom>
          <a:solidFill>
            <a:srgbClr val="2FA98C"/>
          </a:solidFill>
          <a:ln>
            <a:noFill/>
          </a:ln>
        </p:spPr>
        <p:txBody>
          <a:bodyPr/>
          <a:lstStyle/>
          <a:p/>
        </p:txBody>
      </p:sp>
      <p:sp>
        <p:nvSpPr>
          <p:cNvPr id="7"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9AA0A6"/>
                </a:solidFill>
                <a:latin typeface="Helvetica Neue"/>
              </a:rPr>
              <a:t>A Cyber Aware Creation · Not affiliated with NIST · as at 2026-07-31</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Incidents</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0" indent="0">
              <a:spcAft>
                <a:spcPts val="700"/>
              </a:spcAft>
              <a:buNone/>
            </a:pPr>
            <a:r>
              <a:rPr lang="en-GB" sz="1300" b="0" dirty="0">
                <a:solidFill>
                  <a:srgbClr val="14171C"/>
                </a:solidFill>
                <a:latin typeface="Helvetica Neue"/>
              </a:rPr>
              <a:t>Three incidents were open in this period and one earlier matter was closed. The significant one is the residual risk this board accepted in October: customer records sitting with our CRM vendor beyond our direct control. That acceptance fell due for re-confirmation in April and was not re-confirmed; in July the vendor was breached. It was determined material on 14 July and reported on Form 8-K on 17 July, inside the required window. A four-hour degradation of card authorisation at the EU payments subsidiary was classified as major under DORA and reported to the national competent authority, and was separately determined not material for securities purposes — two different questions with two different tests. The third, a renewed wave of credential-stuffing against the customer portal, is still under assessment and is being assessed together with the two earlier waves rather than on its own.</a:t>
            </a:r>
          </a:p>
          <a:p>
            <a:pPr marL="0" indent="0">
              <a:spcAft>
                <a:spcPts val="700"/>
              </a:spcAft>
              <a:buNone/>
            </a:pPr>
            <a:r>
              <a:rPr lang="en-GB" sz="1000" b="0" dirty="0">
                <a:solidFill>
                  <a:srgbClr val="4A4F58"/>
                </a:solidFill>
                <a:latin typeface="Helvetica Neue"/>
              </a:rPr>
              <a:t>Not legal advice. The incident record structures and documents a materiality determination; it does not make one. Involve counsel on the determination and on any filing.</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Incidents — detail</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228600" indent="-228600">
              <a:spcAft>
                <a:spcPts val="700"/>
              </a:spcAft>
              <a:buFont typeface="Arial"/>
              <a:buChar char="•"/>
            </a:pPr>
            <a:r>
              <a:rPr lang="en-GB" sz="1150" b="0" dirty="0">
                <a:solidFill>
                  <a:srgbClr val="14171C"/>
                </a:solidFill>
                <a:latin typeface="Helvetica Neue"/>
              </a:rPr>
              <a:t>I-001: An earlier wave of the same credential-stuffing activity was determined not material in March and closed after credential resets and tighter rate limiting; it is retained as the reference point for the wave now under assessment.</a:t>
            </a:r>
          </a:p>
          <a:p>
            <a:pPr marL="228600" indent="-228600">
              <a:spcAft>
                <a:spcPts val="700"/>
              </a:spcAft>
              <a:buFont typeface="Arial"/>
              <a:buChar char="•"/>
            </a:pPr>
            <a:r>
              <a:rPr lang="en-GB" sz="1150" b="0" dirty="0">
                <a:solidFill>
                  <a:srgbClr val="14171C"/>
                </a:solidFill>
                <a:latin typeface="Helvetica Neue"/>
              </a:rPr>
              <a:t>I-002: Our CRM vendor was breached, exposing name, email, postal address and order history for 84,000 customers; payment card data is tokenised at the gateway and was not in the tenant. This is the exposure recorded as acceptance A-002 and tracked as risk R-003 — the insurance rider moved the financial loss, as anticipated, but not the notification duty or the customer-facing consequence. Determined material on 14 July on the disclosure committee's recommendation and reported on Form 8-K on 17 July, one business day inside the four-business-day window.</a:t>
            </a:r>
          </a:p>
          <a:p>
            <a:pPr marL="228600" indent="-228600">
              <a:spcAft>
                <a:spcPts val="700"/>
              </a:spcAft>
              <a:buFont typeface="Arial"/>
              <a:buChar char="•"/>
            </a:pPr>
            <a:r>
              <a:rPr lang="en-GB" sz="1150" b="0" dirty="0">
                <a:solidFill>
                  <a:srgbClr val="14171C"/>
                </a:solidFill>
                <a:latin typeface="Helvetica Neue"/>
              </a:rPr>
              <a:t>I-003: Card authorisation at the EU payments subsidiary ran above its service level for four hours and twelve minutes; it was classified as major under DORA, the initial notification and the intermediate report are with the national competent authority, and the final report is due by 23 August.</a:t>
            </a:r>
          </a:p>
          <a:p>
            <a:pPr marL="228600" indent="-228600">
              <a:spcAft>
                <a:spcPts val="700"/>
              </a:spcAft>
              <a:buFont typeface="Arial"/>
              <a:buChar char="•"/>
            </a:pPr>
            <a:r>
              <a:rPr lang="en-GB" sz="1150" b="0" dirty="0">
                <a:solidFill>
                  <a:srgbClr val="14171C"/>
                </a:solidFill>
                <a:latin typeface="Helvetica Neue"/>
              </a:rPr>
              <a:t>I-004: A third wave of credential-stuffing against the customer portal is under assessment; because it runs on the same infrastructure against the same unremediated weakness as the March and May waves, the three are being assessed as one series rather than separately, and the determination is deferred until the log review completes on 3 August.</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685800" y="292608"/>
            <a:ext cx="10820095" cy="274320"/>
          </a:xfrm>
          <a:prstGeom prst="rect">
            <a:avLst/>
          </a:prstGeom>
          <a:noFill/>
        </p:spPr>
        <p:txBody>
          <a:bodyPr wrap="square" lIns="0" tIns="0" rIns="0" bIns="0">
            <a:normAutofit/>
          </a:bodyPr>
          <a:lstStyle/>
          <a:p>
            <a:pPr marL="0" indent="0">
              <a:spcAft>
                <a:spcPts val="0"/>
              </a:spcAft>
              <a:buNone/>
            </a:pPr>
            <a:r>
              <a:rPr lang="en-GB" sz="1100" b="0" dirty="0">
                <a:solidFill>
                  <a:srgbClr val="4A4F58"/>
                </a:solidFill>
                <a:latin typeface="Helvetica Neue"/>
              </a:rPr>
              <a:t>Northwind Manufacturing (fictional) · Q3 2026 — SPECIMEN, not a real pack · Board</a:t>
            </a:r>
          </a:p>
        </p:txBody>
      </p:sp>
      <p:sp>
        <p:nvSpPr>
          <p:cNvPr id="3" name="Title"/>
          <p:cNvSpPr txBox="1"/>
          <p:nvPr/>
        </p:nvSpPr>
        <p:spPr>
          <a:xfrm>
            <a:off x="685800" y="548640"/>
            <a:ext cx="10820095" cy="731520"/>
          </a:xfrm>
          <a:prstGeom prst="rect">
            <a:avLst/>
          </a:prstGeom>
          <a:noFill/>
        </p:spPr>
        <p:txBody>
          <a:bodyPr wrap="square" lIns="0" tIns="0" rIns="0" bIns="0">
            <a:normAutofit/>
          </a:bodyPr>
          <a:lstStyle/>
          <a:p>
            <a:pPr marL="0" indent="0">
              <a:spcAft>
                <a:spcPts val="0"/>
              </a:spcAft>
              <a:buNone/>
            </a:pPr>
            <a:r>
              <a:rPr lang="en-GB" sz="2600" b="1" dirty="0">
                <a:solidFill>
                  <a:srgbClr val="14171C"/>
                </a:solidFill>
                <a:latin typeface="Helvetica Neue"/>
              </a:rPr>
              <a:t>Provenance</a:t>
            </a:r>
          </a:p>
        </p:txBody>
      </p:sp>
      <p:sp>
        <p:nvSpPr>
          <p:cNvPr id="4" name="Title kicker"/>
          <p:cNvSpPr/>
          <p:nvPr/>
        </p:nvSpPr>
        <p:spPr>
          <a:xfrm>
            <a:off x="448056" y="585216"/>
            <a:ext cx="50800" cy="548640"/>
          </a:xfrm>
          <a:prstGeom prst="rect">
            <a:avLst/>
          </a:prstGeom>
          <a:solidFill>
            <a:srgbClr val="2FA98C"/>
          </a:solidFill>
          <a:ln>
            <a:noFill/>
          </a:ln>
        </p:spPr>
        <p:txBody>
          <a:bodyPr/>
          <a:lstStyle/>
          <a:p/>
        </p:txBody>
      </p:sp>
      <p:sp>
        <p:nvSpPr>
          <p:cNvPr id="5" name="Rule"/>
          <p:cNvSpPr/>
          <p:nvPr/>
        </p:nvSpPr>
        <p:spPr>
          <a:xfrm>
            <a:off x="685800" y="1325880"/>
            <a:ext cx="10820095" cy="12700"/>
          </a:xfrm>
          <a:prstGeom prst="rect">
            <a:avLst/>
          </a:prstGeom>
          <a:solidFill>
            <a:srgbClr val="D8D3C6"/>
          </a:solidFill>
          <a:ln>
            <a:noFill/>
          </a:ln>
        </p:spPr>
        <p:txBody>
          <a:bodyPr/>
          <a:lstStyle/>
          <a:p/>
        </p:txBody>
      </p:sp>
      <p:sp>
        <p:nvSpPr>
          <p:cNvPr id="6" name="Rule lead"/>
          <p:cNvSpPr/>
          <p:nvPr/>
        </p:nvSpPr>
        <p:spPr>
          <a:xfrm>
            <a:off x="685800" y="1325880"/>
            <a:ext cx="1005840" cy="38100"/>
          </a:xfrm>
          <a:prstGeom prst="rect">
            <a:avLst/>
          </a:prstGeom>
          <a:solidFill>
            <a:srgbClr val="2FA98C"/>
          </a:solidFill>
          <a:ln>
            <a:noFill/>
          </a:ln>
        </p:spPr>
        <p:txBody>
          <a:bodyPr/>
          <a:lstStyle/>
          <a:p/>
        </p:txBody>
      </p:sp>
      <p:sp>
        <p:nvSpPr>
          <p:cNvPr id="7" name="Body"/>
          <p:cNvSpPr txBox="1"/>
          <p:nvPr/>
        </p:nvSpPr>
        <p:spPr>
          <a:xfrm>
            <a:off x="685800" y="1600200"/>
            <a:ext cx="10820095" cy="4480560"/>
          </a:xfrm>
          <a:prstGeom prst="rect">
            <a:avLst/>
          </a:prstGeom>
          <a:noFill/>
        </p:spPr>
        <p:txBody>
          <a:bodyPr wrap="square" lIns="0" tIns="0" rIns="0" bIns="0">
            <a:normAutofit/>
          </a:bodyPr>
          <a:lstStyle/>
          <a:p>
            <a:pPr marL="0" indent="0">
              <a:spcAft>
                <a:spcPts val="700"/>
              </a:spcAft>
              <a:buNone/>
            </a:pPr>
            <a:r>
              <a:rPr lang="en-GB" sz="1200" b="0" dirty="0">
                <a:solidFill>
                  <a:srgbClr val="4A4F58"/>
                </a:solidFill>
                <a:latin typeface="Helvetica Neue"/>
              </a:rPr>
              <a:t>What this pack was built from, and what was not there.</a:t>
            </a:r>
          </a:p>
          <a:p>
            <a:pPr marL="228600" indent="-228600">
              <a:spcAft>
                <a:spcPts val="700"/>
              </a:spcAft>
              <a:buFont typeface="Arial"/>
              <a:buChar char="•"/>
            </a:pPr>
            <a:r>
              <a:rPr lang="en-GB" sz="1100" b="0" dirty="0">
                <a:solidFill>
                  <a:srgbClr val="14171C"/>
                </a:solidFill>
                <a:latin typeface="Helvetica Neue"/>
              </a:rPr>
              <a:t>'ai', 'exceptions', 'incident', 'metrics', 'posture', 'risk', 'vendor' carry no `boundTo` block, so whether their prose was written against the store being assembled here could not be checked. It is optional and additive; a sidecar that declares it gets that check.</a:t>
            </a:r>
          </a:p>
          <a:p>
            <a:pPr marL="228600" indent="-228600">
              <a:spcAft>
                <a:spcPts val="700"/>
              </a:spcAft>
              <a:buFont typeface="Arial"/>
              <a:buChar char="•"/>
            </a:pPr>
            <a:r>
              <a:rPr lang="en-GB" sz="1100" b="0" dirty="0">
                <a:solidFill>
                  <a:srgbClr val="14171C"/>
                </a:solidFill>
                <a:latin typeface="Helvetica Neue"/>
              </a:rPr>
              <a:t>sections are dated differently (posture=2026-07-26, risk=2026-07-26, metrics=2026-07-31, exceptions=2026-07-31, incident=2026-07-31, vendor=2026-08-07, ai=2026-08-07); a pack that mixes snapshots is sometimes deliberate and always worth seeing</a:t>
            </a:r>
          </a:p>
          <a:p>
            <a:pPr marL="228600" indent="-228600">
              <a:spcAft>
                <a:spcPts val="700"/>
              </a:spcAft>
              <a:buFont typeface="Arial"/>
              <a:buChar char="•"/>
            </a:pPr>
            <a:r>
              <a:rPr lang="en-GB" sz="1100" b="0" dirty="0">
                <a:solidFill>
                  <a:srgbClr val="14171C"/>
                </a:solidFill>
                <a:latin typeface="Helvetica Neue"/>
              </a:rPr>
              <a:t>2 separate decisions name A-002 (exceptions, incident). They were not merged — the wording differs and this assembler never merges on meaning — but they may be one ask arriving twice.</a:t>
            </a:r>
          </a:p>
          <a:p>
            <a:pPr marL="228600" indent="-228600">
              <a:spcAft>
                <a:spcPts val="700"/>
              </a:spcAft>
              <a:buFont typeface="Arial"/>
              <a:buChar char="•"/>
            </a:pPr>
            <a:r>
              <a:rPr lang="en-GB" sz="1100" b="0" dirty="0">
                <a:solidFill>
                  <a:srgbClr val="14171C"/>
                </a:solidFill>
                <a:latin typeface="Helvetica Neue"/>
              </a:rPr>
              <a:t>14 decisions in this pack are pitched at the board (ai 2, exceptions 2, incident 3, metrics 1, pack 1, posture 1, risk 2, vendor 2), against the 5 a sitting can genuinely take. Nothing was dropped and nothing was re-pitched: which asks are due this quarter is the writer's call, and an ask held back is itself a decision worth minuting.</a:t>
            </a:r>
          </a:p>
        </p:txBody>
      </p:sp>
      <p:sp>
        <p:nvSpPr>
          <p:cNvPr id="8" name="Footer spark"/>
          <p:cNvSpPr/>
          <p:nvPr/>
        </p:nvSpPr>
        <p:spPr>
          <a:xfrm>
            <a:off x="685800" y="6304788"/>
            <a:ext cx="118872" cy="118872"/>
          </a:xfrm>
          <a:prstGeom prst="diamond">
            <a:avLst/>
          </a:prstGeom>
          <a:solidFill>
            <a:srgbClr val="2FA98C"/>
          </a:solidFill>
          <a:ln>
            <a:noFill/>
          </a:ln>
        </p:spPr>
        <p:txBody>
          <a:bodyPr/>
          <a:lstStyle/>
          <a:p/>
        </p:txBody>
      </p:sp>
      <p:sp>
        <p:nvSpPr>
          <p:cNvPr id="9" name="Footer"/>
          <p:cNvSpPr txBox="1"/>
          <p:nvPr/>
        </p:nvSpPr>
        <p:spPr>
          <a:xfrm>
            <a:off x="923544" y="6263640"/>
            <a:ext cx="10582351" cy="274320"/>
          </a:xfrm>
          <a:prstGeom prst="rect">
            <a:avLst/>
          </a:prstGeom>
          <a:noFill/>
        </p:spPr>
        <p:txBody>
          <a:bodyPr wrap="square" lIns="0" tIns="0" rIns="0" bIns="0">
            <a:normAutofit/>
          </a:bodyPr>
          <a:lstStyle/>
          <a:p>
            <a:pPr marL="0" indent="0">
              <a:spcAft>
                <a:spcPts val="0"/>
              </a:spcAft>
              <a:buNone/>
            </a:pPr>
            <a:r>
              <a:rPr lang="en-GB" sz="900" b="0" dirty="0">
                <a:solidFill>
                  <a:srgbClr val="4A4F58"/>
                </a:solidFill>
                <a:latin typeface="Helvetica Neue"/>
              </a:rPr>
              <a:t>A Cyber Aware Creation · Not affiliated with NIST · as at 2026-07-31</a:t>
            </a:r>
          </a:p>
        </p:txBody>
      </p:sp>
    </p:spTree>
  </p:cSld>
  <p:clrMapOvr>
    <a:masterClrMapping/>
  </p:clrMapOvr>
</p:sld>
</file>

<file path=ppt/theme/theme1.xml><?xml version="1.0" encoding="utf-8"?>
<a:theme xmlns:a="http://schemas.openxmlformats.org/drawingml/2006/main" name="Cyber Aware Creations">
  <a:themeElements>
    <a:clrScheme name="CAC">
      <a:dk1>
        <a:srgbClr val="14171C"/>
      </a:dk1>
      <a:lt1>
        <a:srgbClr val="FFFFFF"/>
      </a:lt1>
      <a:dk2>
        <a:srgbClr val="4A4F58"/>
      </a:dk2>
      <a:lt2>
        <a:srgbClr val="F6F4EE"/>
      </a:lt2>
      <a:accent1>
        <a:srgbClr val="666D7C"/>
      </a:accent1>
      <a:accent2>
        <a:srgbClr val="2F5D3A"/>
      </a:accent2>
      <a:accent3>
        <a:srgbClr val="7A5218"/>
      </a:accent3>
      <a:accent4>
        <a:srgbClr val="7C3A32"/>
      </a:accent4>
      <a:accent5>
        <a:srgbClr val="5E3660"/>
      </a:accent5>
      <a:accent6>
        <a:srgbClr val="2F4A63"/>
      </a:accent6>
      <a:hlink>
        <a:srgbClr val="666D7C"/>
      </a:hlink>
      <a:folHlink>
        <a:srgbClr val="4A4F58"/>
      </a:folHlink>
    </a:clrScheme>
    <a:fontScheme name="CAC">
      <a:majorFont>
        <a:latin typeface="Helvetica Neue"/>
        <a:ea typeface=""/>
        <a:cs typeface=""/>
      </a:majorFont>
      <a:minorFont>
        <a:latin typeface="Helvetica Neue"/>
        <a:ea typeface=""/>
        <a:cs typeface=""/>
      </a:minorFont>
    </a:fontScheme>
    <a:fmtScheme name="CAC">
      <a:fillStyleLst>
        <a:solidFill>
          <a:schemeClr val="phClr"/>
        </a:solidFill>
        <a:solidFill>
          <a:schemeClr val="phClr"/>
        </a:solidFill>
        <a:solidFill>
          <a:schemeClr val="phClr"/>
        </a:solidFill>
      </a:fillStyleLst>
      <a:lnStyleLst>
        <a:ln>
          <a:solidFill>
            <a:schemeClr val="phClr"/>
          </a:solidFill>
        </a:ln>
        <a:ln>
          <a:solidFill>
            <a:schemeClr val="phClr"/>
          </a:solidFill>
        </a:ln>
        <a:ln>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